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68" r:id="rId2"/>
    <p:sldId id="269" r:id="rId3"/>
    <p:sldId id="301" r:id="rId4"/>
    <p:sldId id="302" r:id="rId5"/>
    <p:sldId id="303" r:id="rId6"/>
    <p:sldId id="304" r:id="rId7"/>
    <p:sldId id="306" r:id="rId8"/>
    <p:sldId id="282" r:id="rId9"/>
    <p:sldId id="296" r:id="rId10"/>
    <p:sldId id="305" r:id="rId11"/>
    <p:sldId id="300" r:id="rId12"/>
    <p:sldId id="307" r:id="rId13"/>
    <p:sldId id="308" r:id="rId14"/>
    <p:sldId id="309" r:id="rId15"/>
    <p:sldId id="310" r:id="rId16"/>
    <p:sldId id="311" r:id="rId17"/>
    <p:sldId id="275" r:id="rId18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100E4-1727-A972-E4E8-D98E516A1B16}" v="6" dt="2024-12-03T07:15:07.161"/>
    <p1510:client id="{44D8987F-2A22-576B-BB5A-43ED435492F3}" v="100" dt="2024-12-03T00:36:55.550"/>
    <p1510:client id="{AAC02A14-37E1-D890-314C-0CB9D60BB3A8}" v="2075" dt="2024-12-03T02:39:47.704"/>
    <p1510:client id="{BD318D5F-AEA7-A725-9C1C-EE21766C0FC0}" v="623" dt="2024-12-03T03:06:25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92821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571e</a:t>
            </a:r>
          </a:p>
        </p:txBody>
      </p:sp>
    </p:spTree>
    <p:extLst>
      <p:ext uri="{BB962C8B-B14F-4D97-AF65-F5344CB8AC3E}">
        <p14:creationId xmlns:p14="http://schemas.microsoft.com/office/powerpoint/2010/main" val="2651405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Shape 15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Shape 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Shape 5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Shape 5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1C93-2ABF-4111-B726-020BABF28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431" y="1167225"/>
            <a:ext cx="8520600" cy="4523550"/>
          </a:xfrm>
        </p:spPr>
        <p:txBody>
          <a:bodyPr>
            <a:normAutofit fontScale="90000"/>
          </a:bodyPr>
          <a:lstStyle/>
          <a:p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r>
              <a:rPr lang="en-IN" sz="2400" dirty="0">
                <a:latin typeface="Times New Roman"/>
              </a:rPr>
              <a:t>RAC –02 PRESENTATION</a:t>
            </a:r>
            <a:br>
              <a:rPr lang="en-IN" sz="3000" dirty="0"/>
            </a:br>
            <a:br>
              <a:rPr lang="en-IN" sz="3000" dirty="0"/>
            </a:br>
            <a:r>
              <a:rPr lang="en-IN" sz="1800" b="0" dirty="0"/>
              <a:t>Deepa C</a:t>
            </a:r>
            <a:br>
              <a:rPr lang="en-IN" sz="1800" b="0" dirty="0"/>
            </a:br>
            <a:r>
              <a:rPr lang="en-IN" sz="1800" b="0" dirty="0"/>
              <a:t>PhD Research  Scholar (Data Science)</a:t>
            </a:r>
            <a:br>
              <a:rPr lang="en-IN" sz="1800" b="0" dirty="0"/>
            </a:br>
            <a:r>
              <a:rPr lang="en-IN" sz="1800" b="0" dirty="0"/>
              <a:t>Register No : 2390019</a:t>
            </a:r>
            <a:br>
              <a:rPr lang="en-IN" sz="1800" b="0" dirty="0"/>
            </a:br>
            <a:r>
              <a:rPr lang="en-IN" sz="1800" b="0" dirty="0"/>
              <a:t>CHRIST Deemed to be University</a:t>
            </a:r>
            <a:br>
              <a:rPr lang="en-IN" sz="1800" b="0" dirty="0"/>
            </a:br>
            <a:r>
              <a:rPr lang="en-IN" sz="1800" b="0" dirty="0"/>
              <a:t>Bangalore</a:t>
            </a:r>
            <a:br>
              <a:rPr lang="en-IN" sz="1800" b="0" dirty="0"/>
            </a:br>
            <a:r>
              <a:rPr lang="en-IN" sz="1800" b="0" dirty="0"/>
              <a:t>03/12/2024</a:t>
            </a:r>
            <a:br>
              <a:rPr lang="en-IN" sz="1800" b="0" dirty="0"/>
            </a:br>
            <a:br>
              <a:rPr lang="en-IN" sz="1800" dirty="0"/>
            </a:br>
            <a:r>
              <a:rPr lang="en-IN" sz="1800" dirty="0"/>
              <a:t>Under Guidance of </a:t>
            </a:r>
            <a:br>
              <a:rPr lang="en-IN" sz="1800" dirty="0"/>
            </a:br>
            <a:r>
              <a:rPr lang="en-IN" sz="1800" b="0" dirty="0"/>
              <a:t>Dr Monisha Singh</a:t>
            </a:r>
            <a:br>
              <a:rPr lang="en-IN" sz="1800" b="0" dirty="0"/>
            </a:br>
            <a:r>
              <a:rPr lang="en-IN" sz="1800" b="0" dirty="0"/>
              <a:t>Department of Computer Science</a:t>
            </a:r>
            <a:br>
              <a:rPr lang="en-IN" sz="1800" b="0" dirty="0"/>
            </a:br>
            <a:r>
              <a:rPr lang="en-IN" sz="1800" b="0" dirty="0"/>
              <a:t>CHRIST Deemed to be University</a:t>
            </a:r>
            <a:br>
              <a:rPr lang="en-IN" sz="1800" b="0" dirty="0"/>
            </a:br>
            <a:r>
              <a:rPr lang="en-IN" sz="1800" b="0" dirty="0"/>
              <a:t>Bangalore</a:t>
            </a:r>
            <a:br>
              <a:rPr lang="en-IN" sz="1800" b="0" dirty="0"/>
            </a:br>
            <a:endParaRPr lang="en-IN" sz="1800" b="0"/>
          </a:p>
        </p:txBody>
      </p:sp>
    </p:spTree>
    <p:extLst>
      <p:ext uri="{BB962C8B-B14F-4D97-AF65-F5344CB8AC3E}">
        <p14:creationId xmlns:p14="http://schemas.microsoft.com/office/powerpoint/2010/main" val="1165036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D1CD-7034-4D49-A4A9-165CB86F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749B2-F1AC-4BD0-BFE2-DC662A27E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>
                <a:latin typeface="Times New Roman"/>
                <a:cs typeface="Times New Roman"/>
              </a:rPr>
              <a:t>Literature review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>
                <a:latin typeface="Times New Roman"/>
                <a:cs typeface="Times New Roman"/>
              </a:rPr>
              <a:t>Parameters of Traffic Flow Prediction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>
                <a:latin typeface="Times New Roman"/>
                <a:cs typeface="Times New Roman"/>
              </a:rPr>
              <a:t>Traffic Prediction models(traditional and machine learning)</a:t>
            </a:r>
          </a:p>
          <a:p>
            <a:pPr marL="88900" indent="0">
              <a:buNone/>
            </a:pPr>
            <a:r>
              <a:rPr lang="en-IN"/>
              <a:t>	</a:t>
            </a:r>
          </a:p>
          <a:p>
            <a:pPr marL="88900" indent="0">
              <a:buNone/>
            </a:pPr>
            <a:r>
              <a:rPr lang="en-IN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9156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3C5A-67AF-58D7-67F8-1C103CEB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1640"/>
            <a:ext cx="8520600" cy="763500"/>
          </a:xfrm>
        </p:spPr>
        <p:txBody>
          <a:bodyPr/>
          <a:lstStyle/>
          <a:p>
            <a:r>
              <a:rPr lang="en-US" sz="2400">
                <a:latin typeface="Times New Roman"/>
              </a:rPr>
              <a:t>Literature Review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64CA1-2E64-A1AA-FFBC-37978975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31146"/>
            <a:ext cx="8520600" cy="5260687"/>
          </a:xfrm>
        </p:spPr>
        <p:txBody>
          <a:bodyPr/>
          <a:lstStyle/>
          <a:p>
            <a:pPr marL="88900" indent="0">
              <a:lnSpc>
                <a:spcPct val="150000"/>
              </a:lnSpc>
              <a:buNone/>
            </a:pPr>
            <a:r>
              <a:rPr lang="en-IN" sz="1600" b="1">
                <a:latin typeface="Times New Roman"/>
              </a:rPr>
              <a:t>Paper –01 : </a:t>
            </a:r>
            <a:r>
              <a:rPr lang="en-IN" sz="1600">
                <a:latin typeface="Times New Roman"/>
              </a:rPr>
              <a:t>"A Machine Learning Based Approach for the prediction of road traffic flow on urbanised arterial roads"</a:t>
            </a:r>
            <a:endParaRPr lang="en-US"/>
          </a:p>
          <a:p>
            <a:pPr marL="374650" indent="-285750">
              <a:lnSpc>
                <a:spcPct val="150000"/>
              </a:lnSpc>
              <a:buFont typeface="Arial"/>
              <a:buChar char="•"/>
            </a:pPr>
            <a:r>
              <a:rPr lang="en-IN" sz="1600">
                <a:latin typeface="Times New Roman"/>
              </a:rPr>
              <a:t>This study applies</a:t>
            </a:r>
            <a:r>
              <a:rPr lang="en-IN" sz="1600" b="1">
                <a:latin typeface="Times New Roman"/>
              </a:rPr>
              <a:t> </a:t>
            </a:r>
            <a:r>
              <a:rPr lang="en-IN" sz="1600">
                <a:latin typeface="Times New Roman"/>
              </a:rPr>
              <a:t>machine learning model</a:t>
            </a:r>
            <a:r>
              <a:rPr lang="en-IN" sz="1600" b="1">
                <a:latin typeface="Times New Roman"/>
              </a:rPr>
              <a:t>s</a:t>
            </a:r>
            <a:r>
              <a:rPr lang="en-IN" sz="1600">
                <a:latin typeface="Times New Roman"/>
              </a:rPr>
              <a:t> to predict road traffic congestion on </a:t>
            </a:r>
            <a:r>
              <a:rPr lang="en-IN" sz="1600" b="1">
                <a:latin typeface="Times New Roman"/>
              </a:rPr>
              <a:t>urbanized arterial roads</a:t>
            </a:r>
            <a:r>
              <a:rPr lang="en-IN" sz="1600">
                <a:latin typeface="Times New Roman"/>
              </a:rPr>
              <a:t>. By </a:t>
            </a:r>
            <a:r>
              <a:rPr lang="en-IN" sz="1600" err="1">
                <a:latin typeface="Times New Roman"/>
              </a:rPr>
              <a:t>analyzing</a:t>
            </a:r>
            <a:r>
              <a:rPr lang="en-IN" sz="1600">
                <a:latin typeface="Times New Roman"/>
              </a:rPr>
              <a:t> different vehicle classes and input parameters, the research investigates how different vehicles impacts prediction accuracy.</a:t>
            </a:r>
            <a:endParaRPr lang="en-IN" sz="1600">
              <a:latin typeface="Times New Roman"/>
              <a:cs typeface="Times New Roman"/>
            </a:endParaRPr>
          </a:p>
          <a:p>
            <a:pPr marL="88900" indent="0">
              <a:lnSpc>
                <a:spcPct val="150000"/>
              </a:lnSpc>
              <a:buNone/>
            </a:pPr>
            <a:r>
              <a:rPr lang="en-IN" sz="1600" b="1">
                <a:latin typeface="Times New Roman"/>
                <a:cs typeface="Times New Roman"/>
              </a:rPr>
              <a:t>Research Gap:</a:t>
            </a:r>
            <a:endParaRPr lang="en-IN" b="1"/>
          </a:p>
          <a:p>
            <a:pPr marL="374650" indent="-285750">
              <a:lnSpc>
                <a:spcPct val="150000"/>
              </a:lnSpc>
              <a:buFont typeface="Arial"/>
              <a:buChar char="•"/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Heterogeneous Traffic in Real-Time</a:t>
            </a:r>
          </a:p>
          <a:p>
            <a:pPr marL="374650" indent="-285750">
              <a:lnSpc>
                <a:spcPct val="150000"/>
              </a:lnSpc>
              <a:buFont typeface="Arial"/>
              <a:buChar char="•"/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Limited to Short-Term Predictions</a:t>
            </a:r>
          </a:p>
          <a:p>
            <a:pPr marL="374650" indent="-285750">
              <a:lnSpc>
                <a:spcPct val="150000"/>
              </a:lnSpc>
              <a:buFont typeface="Arial"/>
              <a:buChar char="•"/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Focus on Arterial Roads</a:t>
            </a:r>
          </a:p>
          <a:p>
            <a:pPr marL="88900" indent="0">
              <a:lnSpc>
                <a:spcPct val="150000"/>
              </a:lnSpc>
              <a:buNone/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Parameters Used:</a:t>
            </a:r>
            <a:endParaRPr lang="en-US" sz="1600"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lnSpc>
                <a:spcPct val="150000"/>
              </a:lnSpc>
              <a:buNone/>
              <a:tabLst>
                <a:tab pos="914400" algn="l"/>
              </a:tabLst>
            </a:pPr>
            <a:endParaRPr lang="en-US" sz="1600">
              <a:effectLst/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74650" indent="-285750">
              <a:lnSpc>
                <a:spcPct val="150000"/>
              </a:lnSpc>
              <a:buFont typeface="Arial"/>
              <a:buChar char="•"/>
              <a:tabLst>
                <a:tab pos="914400" algn="l"/>
              </a:tabLst>
            </a:pPr>
            <a:endParaRPr lang="en-US" sz="1600"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4999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200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20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2923C2-1077-3E49-909F-B61A37891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475538"/>
              </p:ext>
            </p:extLst>
          </p:nvPr>
        </p:nvGraphicFramePr>
        <p:xfrm>
          <a:off x="2012555" y="4599344"/>
          <a:ext cx="4643965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8912">
                  <a:extLst>
                    <a:ext uri="{9D8B030D-6E8A-4147-A177-3AD203B41FA5}">
                      <a16:colId xmlns:a16="http://schemas.microsoft.com/office/drawing/2014/main" val="3871012855"/>
                    </a:ext>
                  </a:extLst>
                </a:gridCol>
                <a:gridCol w="2275053">
                  <a:extLst>
                    <a:ext uri="{9D8B030D-6E8A-4147-A177-3AD203B41FA5}">
                      <a16:colId xmlns:a16="http://schemas.microsoft.com/office/drawing/2014/main" val="505849154"/>
                    </a:ext>
                  </a:extLst>
                </a:gridCol>
              </a:tblGrid>
              <a:tr h="302459">
                <a:tc>
                  <a:txBody>
                    <a:bodyPr/>
                    <a:lstStyle/>
                    <a:p>
                      <a:r>
                        <a:rPr lang="en-US"/>
                        <a:t>Time 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302808"/>
                  </a:ext>
                </a:extLst>
              </a:tr>
              <a:tr h="302459">
                <a:tc>
                  <a:txBody>
                    <a:bodyPr/>
                    <a:lstStyle/>
                    <a:p>
                      <a:r>
                        <a:rPr lang="en-US"/>
                        <a:t>Training data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 months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9497"/>
                  </a:ext>
                </a:extLst>
              </a:tr>
              <a:tr h="302459">
                <a:tc>
                  <a:txBody>
                    <a:bodyPr/>
                    <a:lstStyle/>
                    <a:p>
                      <a:r>
                        <a:rPr lang="en-US"/>
                        <a:t>Test data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64209"/>
                  </a:ext>
                </a:extLst>
              </a:tr>
              <a:tr h="302459">
                <a:tc>
                  <a:txBody>
                    <a:bodyPr/>
                    <a:lstStyle/>
                    <a:p>
                      <a:r>
                        <a:rPr lang="en-US"/>
                        <a:t>Input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All vehicle class totals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802949"/>
                  </a:ext>
                </a:extLst>
              </a:tr>
              <a:tr h="302459">
                <a:tc>
                  <a:txBody>
                    <a:bodyPr/>
                    <a:lstStyle/>
                    <a:p>
                      <a:r>
                        <a:rPr lang="en-US"/>
                        <a:t>Parameter changed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098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02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3C5A-67AF-58D7-67F8-1C103CEB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254893"/>
          </a:xfrm>
        </p:spPr>
        <p:txBody>
          <a:bodyPr/>
          <a:lstStyle/>
          <a:p>
            <a:endParaRPr lang="en-US" sz="2400"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64CA1-2E64-A1AA-FFBC-37978975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45992"/>
            <a:ext cx="8520600" cy="4555200"/>
          </a:xfrm>
        </p:spPr>
        <p:txBody>
          <a:bodyPr/>
          <a:lstStyle/>
          <a:p>
            <a:pPr marL="88900" indent="0">
              <a:lnSpc>
                <a:spcPct val="150000"/>
              </a:lnSpc>
              <a:buNone/>
            </a:pPr>
            <a:r>
              <a:rPr lang="en-IN" sz="1600" b="1">
                <a:latin typeface="Times New Roman"/>
              </a:rPr>
              <a:t>Paper –02 : </a:t>
            </a:r>
            <a:r>
              <a:rPr lang="en-IN" sz="1600">
                <a:latin typeface="Times New Roman"/>
              </a:rPr>
              <a:t>"Traffic Flow Prediction using machine learning methods"</a:t>
            </a:r>
            <a:endParaRPr lang="en-US"/>
          </a:p>
          <a:p>
            <a:pPr>
              <a:lnSpc>
                <a:spcPct val="150000"/>
              </a:lnSpc>
            </a:pPr>
            <a:r>
              <a:rPr lang="en-IN" sz="1600">
                <a:latin typeface="Times New Roman"/>
              </a:rPr>
              <a:t>This research addresses the challenge of short-term traffic flow prediction, a critical component in developing smart cities. In this work firstly preprocess data via selenium using 3 ML algorithms linear regression, decision tree and support vector machine.</a:t>
            </a:r>
            <a:endParaRPr lang="en-IN" sz="1600">
              <a:effectLst/>
              <a:latin typeface="Times New Roman"/>
            </a:endParaRPr>
          </a:p>
          <a:p>
            <a:pPr marL="88900" indent="0">
              <a:lnSpc>
                <a:spcPct val="150000"/>
              </a:lnSpc>
              <a:buNone/>
              <a:tabLst>
                <a:tab pos="914400" algn="l"/>
              </a:tabLst>
            </a:pPr>
            <a:r>
              <a:rPr lang="en-IN" sz="1600">
                <a:latin typeface="Times New Roman"/>
                <a:cs typeface="Times New Roman"/>
              </a:rPr>
              <a:t>Research Gap: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Heterogeneous Traffic factors(like road closures, road accidents..)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Limited to Short-Term Predictions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No Actionable Traffic Management Solutions</a:t>
            </a:r>
          </a:p>
          <a:p>
            <a:pPr marL="88900" indent="0">
              <a:lnSpc>
                <a:spcPct val="150000"/>
              </a:lnSpc>
              <a:buNone/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Parameters used:</a:t>
            </a:r>
            <a:endParaRPr lang="en-US" sz="16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Time index</a:t>
            </a:r>
            <a:endParaRPr lang="en-US" sz="16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Place/junction</a:t>
            </a:r>
            <a:endParaRPr lang="en-US" sz="16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Traffic volume</a:t>
            </a:r>
            <a:endParaRPr lang="en-US" sz="16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20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9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3C5A-67AF-58D7-67F8-1C103CEB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254893"/>
          </a:xfrm>
        </p:spPr>
        <p:txBody>
          <a:bodyPr/>
          <a:lstStyle/>
          <a:p>
            <a:endParaRPr lang="en-US" sz="2400"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64CA1-2E64-A1AA-FFBC-37978975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45992"/>
            <a:ext cx="8520600" cy="5282563"/>
          </a:xfrm>
        </p:spPr>
        <p:txBody>
          <a:bodyPr/>
          <a:lstStyle/>
          <a:p>
            <a:pPr marL="88900" indent="0">
              <a:lnSpc>
                <a:spcPct val="150000"/>
              </a:lnSpc>
              <a:buNone/>
            </a:pPr>
            <a:r>
              <a:rPr lang="en-IN" sz="1600" b="1">
                <a:latin typeface="Times New Roman"/>
              </a:rPr>
              <a:t>Paper –03 : </a:t>
            </a:r>
            <a:r>
              <a:rPr lang="en-IN" sz="1600">
                <a:latin typeface="Times New Roman"/>
              </a:rPr>
              <a:t>"</a:t>
            </a:r>
            <a:r>
              <a:rPr lang="en-US" sz="1600" b="1">
                <a:latin typeface="Times New Roman"/>
              </a:rPr>
              <a:t>Traffic Congestion Prediction using Machine Learning</a:t>
            </a:r>
            <a:r>
              <a:rPr lang="en-IN" sz="1600">
                <a:latin typeface="Times New Roman"/>
              </a:rPr>
              <a:t>"</a:t>
            </a:r>
            <a:endParaRPr lang="en-US" sz="1600"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IN" sz="1600">
                <a:latin typeface="Times New Roman"/>
              </a:rPr>
              <a:t>This study tackles the challenge of </a:t>
            </a:r>
            <a:r>
              <a:rPr lang="en-IN" sz="1600" b="1">
                <a:latin typeface="Times New Roman"/>
              </a:rPr>
              <a:t>t</a:t>
            </a:r>
            <a:r>
              <a:rPr lang="en-IN" sz="1600">
                <a:latin typeface="Times New Roman"/>
              </a:rPr>
              <a:t>raffic flow prediction by addressing the limitations in current methods with 5 different machine learning models which are decision tree, random forest, logistic regression, </a:t>
            </a:r>
            <a:r>
              <a:rPr lang="en-IN" sz="1600" err="1">
                <a:latin typeface="Times New Roman"/>
              </a:rPr>
              <a:t>svm</a:t>
            </a:r>
            <a:r>
              <a:rPr lang="en-IN" sz="1600">
                <a:latin typeface="Times New Roman"/>
              </a:rPr>
              <a:t>, and MLP to predict the congestion rate.</a:t>
            </a:r>
            <a:endParaRPr lang="en-IN" sz="1600">
              <a:effectLst/>
              <a:latin typeface="Times New Roman"/>
            </a:endParaRP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IN" sz="1600">
                <a:latin typeface="Times New Roman"/>
                <a:cs typeface="Times New Roman"/>
              </a:rPr>
              <a:t>Research Gap: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Heterogeneous Traffic factors(like road closures, road accidents..)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No Prescriptive Traffic Management Solutions: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endParaRPr lang="en-US" sz="1600">
              <a:latin typeface="Times New Roman"/>
              <a:cs typeface="Times New Roman"/>
            </a:endParaRPr>
          </a:p>
          <a:p>
            <a:pPr marL="88900" indent="0">
              <a:lnSpc>
                <a:spcPct val="150000"/>
              </a:lnSpc>
              <a:buNone/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Parameters used: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Date time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Junction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vehicles</a:t>
            </a:r>
          </a:p>
        </p:txBody>
      </p:sp>
    </p:spTree>
    <p:extLst>
      <p:ext uri="{BB962C8B-B14F-4D97-AF65-F5344CB8AC3E}">
        <p14:creationId xmlns:p14="http://schemas.microsoft.com/office/powerpoint/2010/main" val="2437345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3C5A-67AF-58D7-67F8-1C103CEB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254893"/>
          </a:xfrm>
        </p:spPr>
        <p:txBody>
          <a:bodyPr/>
          <a:lstStyle/>
          <a:p>
            <a:endParaRPr lang="en-US" sz="2400"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64CA1-2E64-A1AA-FFBC-379789751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45992"/>
            <a:ext cx="8520600" cy="5282563"/>
          </a:xfrm>
        </p:spPr>
        <p:txBody>
          <a:bodyPr/>
          <a:lstStyle/>
          <a:p>
            <a:pPr marL="88900" indent="0">
              <a:lnSpc>
                <a:spcPct val="150000"/>
              </a:lnSpc>
              <a:buNone/>
            </a:pPr>
            <a:r>
              <a:rPr lang="en-IN" sz="1600" b="1">
                <a:latin typeface="Times New Roman"/>
              </a:rPr>
              <a:t>Paper –04 : </a:t>
            </a:r>
            <a:r>
              <a:rPr lang="en-IN" sz="1600">
                <a:latin typeface="Times New Roman"/>
              </a:rPr>
              <a:t>"Congestion Mitigation Scenario through Transportation improvement"</a:t>
            </a:r>
            <a:endParaRPr lang="en-US" sz="1600">
              <a:latin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IN" sz="1600">
                <a:latin typeface="Times New Roman"/>
                <a:cs typeface="Times New Roman"/>
              </a:rPr>
              <a:t>Urban traffic congestion significantly impacts road safety, often leading to higher accident rates</a:t>
            </a:r>
            <a:r>
              <a:rPr lang="en-IN" sz="1600">
                <a:latin typeface="Times New Roman"/>
              </a:rPr>
              <a:t>. Public Transportation is a vital element in solving the congestion problem in city. In this research results show that improvement of public transportation through comfort , safety , reliability and affordable cost can mitigate the traffic congestion</a:t>
            </a:r>
            <a:endParaRPr lang="en-IN" sz="160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1200">
              <a:effectLst/>
              <a:latin typeface="Times New Roman"/>
              <a:cs typeface="Times New Roman"/>
            </a:endParaRPr>
          </a:p>
          <a:p>
            <a:pPr marL="88900" indent="0">
              <a:lnSpc>
                <a:spcPct val="150000"/>
              </a:lnSpc>
              <a:buNone/>
              <a:tabLst>
                <a:tab pos="914400" algn="l"/>
              </a:tabLst>
            </a:pPr>
            <a:r>
              <a:rPr lang="en-IN" sz="1600">
                <a:latin typeface="Times New Roman"/>
                <a:cs typeface="Times New Roman"/>
              </a:rPr>
              <a:t>Research Gap:</a:t>
            </a:r>
          </a:p>
          <a:p>
            <a:pPr algn="just"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Real-time integration of traffic incidents and accidents is still missing in many models.</a:t>
            </a:r>
          </a:p>
          <a:p>
            <a:pPr algn="just"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Accident prediction has not been thoroughly explored, even though it's crucial for urban traffic safety.</a:t>
            </a:r>
          </a:p>
          <a:p>
            <a:pPr marL="88900" indent="0" algn="just">
              <a:lnSpc>
                <a:spcPct val="150000"/>
              </a:lnSpc>
              <a:buNone/>
              <a:tabLst>
                <a:tab pos="914400" algn="l"/>
              </a:tabLst>
            </a:pPr>
            <a:r>
              <a:rPr lang="en-US" sz="1600">
                <a:latin typeface="Times New Roman"/>
                <a:cs typeface="Times New Roman"/>
              </a:rPr>
              <a:t>Parameters used:</a:t>
            </a:r>
          </a:p>
          <a:p>
            <a:pPr algn="just"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Comfort</a:t>
            </a:r>
            <a:endParaRPr lang="en-US" sz="1600"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Safety</a:t>
            </a:r>
            <a:endParaRPr lang="en-US" sz="1600"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Reliability</a:t>
            </a:r>
            <a:endParaRPr lang="en-US" sz="1600">
              <a:effectLst/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914400" algn="l"/>
              </a:tabLst>
            </a:pPr>
            <a:r>
              <a:rPr lang="en-US" sz="1600">
                <a:latin typeface="Times New Roman"/>
                <a:ea typeface="Aptos" panose="020B0004020202020204" pitchFamily="34" charset="0"/>
                <a:cs typeface="Times New Roman"/>
              </a:rPr>
              <a:t>Cost</a:t>
            </a:r>
          </a:p>
          <a:p>
            <a:pPr>
              <a:lnSpc>
                <a:spcPct val="150000"/>
              </a:lnSpc>
              <a:tabLst>
                <a:tab pos="914400" algn="l"/>
              </a:tabLst>
            </a:pPr>
            <a:endParaRPr lang="en-US" sz="1600"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4999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>
              <a:latin typeface="Times New Roman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200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8900" indent="0">
              <a:buNone/>
              <a:tabLst>
                <a:tab pos="914400" algn="l"/>
              </a:tabLst>
            </a:pPr>
            <a:endParaRPr lang="en-US" sz="200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10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7E223-7C93-5C17-47BB-D93441DE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1800" b="0">
                <a:latin typeface="Times New Roman"/>
                <a:cs typeface="Times New Roman"/>
              </a:rPr>
              <a:t>Parameters o</a:t>
            </a:r>
            <a:r>
              <a:rPr lang="en-US" sz="1800">
                <a:latin typeface="Times New Roman"/>
                <a:cs typeface="Times New Roman"/>
              </a:rPr>
              <a:t>f Traffic Flow Prediction</a:t>
            </a:r>
            <a:endParaRPr lang="en-US" sz="1800" err="1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97349-4164-1039-7E5F-C5D2AE3C4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77246"/>
            <a:ext cx="8520600" cy="5014587"/>
          </a:xfrm>
        </p:spPr>
        <p:txBody>
          <a:bodyPr/>
          <a:lstStyle/>
          <a:p>
            <a:pPr marL="88900" indent="0" algn="just">
              <a:lnSpc>
                <a:spcPct val="150000"/>
              </a:lnSpc>
              <a:buNone/>
            </a:pPr>
            <a:r>
              <a:rPr lang="en-US" sz="1400" b="1">
                <a:latin typeface="Times New Roman"/>
                <a:cs typeface="Times New Roman"/>
              </a:rPr>
              <a:t>In dataset:</a:t>
            </a:r>
            <a:endParaRPr lang="en-US" sz="1400" b="1"/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Area name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Road/intersection name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Traffic volume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Average speed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Travel time index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Congestion level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Road capacity utilization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Incident reports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Environment impact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Public transport usage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Traffic signal compliance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Parking usage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Pedestrian and cyclist count 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Weather condition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latin typeface="Times New Roman"/>
                <a:cs typeface="Times New Roman"/>
              </a:rPr>
              <a:t>Roadwork and construction activity</a:t>
            </a:r>
          </a:p>
          <a:p>
            <a:pPr algn="just">
              <a:lnSpc>
                <a:spcPct val="150000"/>
              </a:lnSpc>
            </a:pPr>
            <a:endParaRPr lang="en-US" sz="1200">
              <a:latin typeface="Times New Roman"/>
              <a:cs typeface="Times New Roman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6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CBB9-AAAB-924D-63EC-6F2B4408A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812720"/>
          </a:xfrm>
        </p:spPr>
        <p:txBody>
          <a:bodyPr/>
          <a:lstStyle/>
          <a:p>
            <a:r>
              <a:rPr lang="en-US">
                <a:latin typeface="Times New Roman"/>
              </a:rPr>
              <a:t>Derived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C5FAA-D0DC-4643-5D97-3EDF821D9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lnSpc>
                <a:spcPct val="150000"/>
              </a:lnSpc>
              <a:buNone/>
            </a:pPr>
            <a:endParaRPr lang="en-US" sz="1600">
              <a:latin typeface="Times New Roman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1FCCB4-5FA1-6414-AABD-F85DEA3E7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355306"/>
              </p:ext>
            </p:extLst>
          </p:nvPr>
        </p:nvGraphicFramePr>
        <p:xfrm>
          <a:off x="557827" y="1558636"/>
          <a:ext cx="7924649" cy="4696500"/>
        </p:xfrm>
        <a:graphic>
          <a:graphicData uri="http://schemas.openxmlformats.org/drawingml/2006/table">
            <a:tbl>
              <a:tblPr bandRow="1">
                <a:tableStyleId>{5FD0F851-EC5A-4D38-B0AD-8093EC10F338}</a:tableStyleId>
              </a:tblPr>
              <a:tblGrid>
                <a:gridCol w="3838388">
                  <a:extLst>
                    <a:ext uri="{9D8B030D-6E8A-4147-A177-3AD203B41FA5}">
                      <a16:colId xmlns:a16="http://schemas.microsoft.com/office/drawing/2014/main" val="1449083400"/>
                    </a:ext>
                  </a:extLst>
                </a:gridCol>
                <a:gridCol w="4086261">
                  <a:extLst>
                    <a:ext uri="{9D8B030D-6E8A-4147-A177-3AD203B41FA5}">
                      <a16:colId xmlns:a16="http://schemas.microsoft.com/office/drawing/2014/main" val="4137639044"/>
                    </a:ext>
                  </a:extLst>
                </a:gridCol>
              </a:tblGrid>
              <a:tr h="6154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Parameter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Importance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397233871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Area name 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Where congestion has occurred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122882718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Traffic Volume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Core congestion indicator.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406919597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Average Speed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Reflects traffic flow efficiency.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164213482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Travel Time Index (TTI)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Measures delay severity.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380257610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Congestion Level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Target for classification models.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48628179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Incident Reports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Real-time impact on traffic.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598952413"/>
                  </a:ext>
                </a:extLst>
              </a:tr>
              <a:tr h="6154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Road Capacity Utilization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Indicates road overloading.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285894620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Weather Condition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Affects driving behavior.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571097162"/>
                  </a:ext>
                </a:extLst>
              </a:tr>
              <a:tr h="35628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Roadwork/Construction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Causes localized congestion.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3763153999"/>
                  </a:ext>
                </a:extLst>
              </a:tr>
              <a:tr h="6154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Public Transport Usage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138"/>
                        </a:lnSpc>
                      </a:pPr>
                      <a:r>
                        <a:rPr lang="en-US" sz="1100">
                          <a:effectLst/>
                        </a:rPr>
                        <a:t>It indirectly reduces road congestion.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04132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129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33B0-9C66-277A-96CB-42AD2649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55021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Comparison of Traditional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81828-A80E-B8B8-94FC-B3C63A5E9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 algn="just">
              <a:lnSpc>
                <a:spcPct val="150000"/>
              </a:lnSpc>
              <a:buNone/>
            </a:pPr>
            <a:endParaRPr lang="en-US" sz="1600">
              <a:latin typeface="Times New Roman"/>
              <a:cs typeface="Times New Roman"/>
            </a:endParaRPr>
          </a:p>
          <a:p>
            <a:pPr marL="431800" indent="-342900" algn="just">
              <a:lnSpc>
                <a:spcPct val="150000"/>
              </a:lnSpc>
              <a:buAutoNum type="arabicPeriod"/>
            </a:pP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127CE6-A519-ADA0-4CEF-7BB008FA7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20175"/>
              </p:ext>
            </p:extLst>
          </p:nvPr>
        </p:nvGraphicFramePr>
        <p:xfrm>
          <a:off x="459387" y="1421913"/>
          <a:ext cx="8373251" cy="4417840"/>
        </p:xfrm>
        <a:graphic>
          <a:graphicData uri="http://schemas.openxmlformats.org/drawingml/2006/table">
            <a:tbl>
              <a:tblPr bandRow="1">
                <a:tableStyleId>{91EBBBCC-DAD2-459C-BE2E-F6DE35CF9A28}</a:tableStyleId>
              </a:tblPr>
              <a:tblGrid>
                <a:gridCol w="1314739">
                  <a:extLst>
                    <a:ext uri="{9D8B030D-6E8A-4147-A177-3AD203B41FA5}">
                      <a16:colId xmlns:a16="http://schemas.microsoft.com/office/drawing/2014/main" val="1325101640"/>
                    </a:ext>
                  </a:extLst>
                </a:gridCol>
                <a:gridCol w="2210407">
                  <a:extLst>
                    <a:ext uri="{9D8B030D-6E8A-4147-A177-3AD203B41FA5}">
                      <a16:colId xmlns:a16="http://schemas.microsoft.com/office/drawing/2014/main" val="3972030444"/>
                    </a:ext>
                  </a:extLst>
                </a:gridCol>
                <a:gridCol w="2251493">
                  <a:extLst>
                    <a:ext uri="{9D8B030D-6E8A-4147-A177-3AD203B41FA5}">
                      <a16:colId xmlns:a16="http://schemas.microsoft.com/office/drawing/2014/main" val="3011828061"/>
                    </a:ext>
                  </a:extLst>
                </a:gridCol>
                <a:gridCol w="2596612">
                  <a:extLst>
                    <a:ext uri="{9D8B030D-6E8A-4147-A177-3AD203B41FA5}">
                      <a16:colId xmlns:a16="http://schemas.microsoft.com/office/drawing/2014/main" val="1420460695"/>
                    </a:ext>
                  </a:extLst>
                </a:gridCol>
              </a:tblGrid>
              <a:tr h="380170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Model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Best Use Case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Advantages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Limitations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950996339"/>
                  </a:ext>
                </a:extLst>
              </a:tr>
              <a:tr h="655466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Linear Regression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Short-term, simple relationships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Easy to interpret, computationally efficient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Assumes linear relationships, sensitive to outliers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632389968"/>
                  </a:ext>
                </a:extLst>
              </a:tr>
              <a:tr h="655466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ARIMA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Time series with trends/seasonality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Effective for univariate data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Requires stationary data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810649923"/>
                  </a:ext>
                </a:extLst>
              </a:tr>
              <a:tr h="380170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Kalman Filter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Real-time traffic estimation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Adapts to real-time updates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Assumes linear dynamics, complex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3415302672"/>
                  </a:ext>
                </a:extLst>
              </a:tr>
              <a:tr h="655466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Historical Average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Baseline prediction for consistent patterns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Simple, quick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Can’t handle anomalies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380568327"/>
                  </a:ext>
                </a:extLst>
              </a:tr>
              <a:tr h="380170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Moving Average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Smoothing and trend analysis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Reduces noise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Lags in adapting to changes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66508598"/>
                  </a:ext>
                </a:extLst>
              </a:tr>
              <a:tr h="655466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Exponential Smoothing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Short-term forecasts with recent data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Fast response to changes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Limited handling of seasonality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745207074"/>
                  </a:ext>
                </a:extLst>
              </a:tr>
              <a:tr h="655466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Simulation Models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Detailed traffic dynamics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Provides rich insights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200">
                          <a:effectLst/>
                        </a:rPr>
                        <a:t>Computationally intensive </a:t>
                      </a:r>
                      <a:endParaRPr lang="en-US">
                        <a:effectLst/>
                      </a:endParaRP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260485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04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F485-F785-267A-7E75-BA8E711A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07425"/>
            <a:ext cx="8520600" cy="550214"/>
          </a:xfrm>
        </p:spPr>
        <p:txBody>
          <a:bodyPr/>
          <a:lstStyle/>
          <a:p>
            <a:r>
              <a:rPr lang="en-US" sz="2000">
                <a:latin typeface="Times New Roman"/>
              </a:rPr>
              <a:t>Comparison of different type of Machine Learning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1FB9C-8CD6-24FF-1F93-E02D1FD91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 algn="just">
              <a:lnSpc>
                <a:spcPct val="150000"/>
              </a:lnSpc>
              <a:buNone/>
            </a:pPr>
            <a:endParaRPr lang="en-US" sz="1600">
              <a:latin typeface="Times New Roman"/>
              <a:cs typeface="Times New Roman"/>
            </a:endParaRPr>
          </a:p>
          <a:p>
            <a:pPr marL="88900" indent="0">
              <a:buNone/>
            </a:pPr>
            <a:endParaRPr lang="en-US"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57DC23-6C58-9C0D-35C2-A5BFC3488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940450"/>
              </p:ext>
            </p:extLst>
          </p:nvPr>
        </p:nvGraphicFramePr>
        <p:xfrm>
          <a:off x="647905" y="960010"/>
          <a:ext cx="5934075" cy="5223568"/>
        </p:xfrm>
        <a:graphic>
          <a:graphicData uri="http://schemas.openxmlformats.org/drawingml/2006/table">
            <a:tbl>
              <a:tblPr bandRow="1">
                <a:tableStyleId>{46F890A9-2807-4EBB-B81D-B2AA78EC7F39}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23815863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312986437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7177213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1902168818"/>
                    </a:ext>
                  </a:extLst>
                </a:gridCol>
              </a:tblGrid>
              <a:tr h="280975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Model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Best For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Strengths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Limitations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4185005718"/>
                  </a:ext>
                </a:extLst>
              </a:tr>
              <a:tr h="674341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Linear Regression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Predicting travel time, average speed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Simple, interpretable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Assumes linear relationships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431403891"/>
                  </a:ext>
                </a:extLst>
              </a:tr>
              <a:tr h="674341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Decision Trees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Classifying congestion levels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Easy to interpret, handles mixed data types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Prone to overfitting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1537384576"/>
                  </a:ext>
                </a:extLst>
              </a:tr>
              <a:tr h="876643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Random Forest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Predicting congestion, identifying features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Reduces overfitting, handles non-linear data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Computationally intensive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3384951370"/>
                  </a:ext>
                </a:extLst>
              </a:tr>
              <a:tr h="674341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 err="1">
                          <a:effectLst/>
                          <a:latin typeface="Times New Roman"/>
                        </a:rPr>
                        <a:t>XGBoost</a:t>
                      </a:r>
                      <a:r>
                        <a:rPr lang="en-US" sz="1100"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Predicting future congestion severity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High accuracy, handles complex interactions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Requires tuning, slow training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4223545965"/>
                  </a:ext>
                </a:extLst>
              </a:tr>
              <a:tr h="876643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SVM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Classifying road segments (congested or not)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Effective for binary classification tasks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Not scalable for large datasets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3846737446"/>
                  </a:ext>
                </a:extLst>
              </a:tr>
              <a:tr h="674341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LSTM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Predicting future traffic flow (time series)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Captures long-term dependencies in sequences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Requires large datasets, computationally heavy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320093297"/>
                  </a:ext>
                </a:extLst>
              </a:tr>
              <a:tr h="483278"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CNN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Processing traffic maps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Extracts spatial patterns effectively </a:t>
                      </a:r>
                    </a:p>
                  </a:txBody>
                  <a:tcPr marL="66675" marR="66675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639"/>
                        </a:lnSpc>
                      </a:pPr>
                      <a:r>
                        <a:rPr lang="en-US" sz="1100">
                          <a:effectLst/>
                          <a:latin typeface="Times New Roman"/>
                        </a:rPr>
                        <a:t>Requires extensive data </a:t>
                      </a:r>
                    </a:p>
                  </a:txBody>
                  <a:tcPr marL="66675" marR="66675" anchor="ctr"/>
                </a:tc>
                <a:extLst>
                  <a:ext uri="{0D108BD9-81ED-4DB2-BD59-A6C34878D82A}">
                    <a16:rowId xmlns:a16="http://schemas.microsoft.com/office/drawing/2014/main" val="289409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884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CC4C-5A84-4669-F4F1-E18525B41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1097102"/>
          </a:xfrm>
        </p:spPr>
        <p:txBody>
          <a:bodyPr/>
          <a:lstStyle/>
          <a:p>
            <a:r>
              <a:rPr lang="en-US" sz="2400">
                <a:cs typeface="Times New Roman"/>
              </a:rPr>
              <a:t>Why to choose random forest and </a:t>
            </a:r>
            <a:r>
              <a:rPr lang="en-US" sz="2400" err="1">
                <a:cs typeface="Times New Roman"/>
              </a:rPr>
              <a:t>XGBoost</a:t>
            </a:r>
            <a:r>
              <a:rPr lang="en-US" sz="2400">
                <a:cs typeface="Times New Roman"/>
              </a:rPr>
              <a:t> for traffic flow prediction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A7CF7-0E91-B389-9535-51F28886F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>
                <a:latin typeface="Times New Roman"/>
                <a:ea typeface="Aptos" panose="020B0004020202020204" pitchFamily="34" charset="0"/>
                <a:cs typeface="Times New Roman"/>
              </a:rPr>
              <a:t>Both Random Forest and </a:t>
            </a:r>
            <a:r>
              <a:rPr lang="en-IN" sz="1800" err="1">
                <a:latin typeface="Times New Roman"/>
                <a:ea typeface="Aptos" panose="020B0004020202020204" pitchFamily="34" charset="0"/>
                <a:cs typeface="Times New Roman"/>
              </a:rPr>
              <a:t>XGBoost</a:t>
            </a:r>
            <a:r>
              <a:rPr lang="en-IN" sz="1800">
                <a:latin typeface="Times New Roman"/>
                <a:ea typeface="Aptos" panose="020B0004020202020204" pitchFamily="34" charset="0"/>
                <a:cs typeface="Times New Roman"/>
              </a:rPr>
              <a:t> are powerful machine learning models that excel at handling complex , non-linear relationships in data.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>
                <a:latin typeface="Times New Roman"/>
                <a:ea typeface="Aptos" panose="020B0004020202020204" pitchFamily="34" charset="0"/>
                <a:cs typeface="Times New Roman"/>
              </a:rPr>
              <a:t>-&gt; Random Forest : Advantages</a:t>
            </a:r>
            <a:r>
              <a:rPr lang="en-IN" sz="1800">
                <a:latin typeface="Times New Roman"/>
                <a:cs typeface="Times New Roman"/>
              </a:rPr>
              <a:t>    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SzPts val="1000"/>
            </a:pPr>
            <a:r>
              <a:rPr lang="en-IN" sz="1800">
                <a:latin typeface="Times New Roman"/>
                <a:cs typeface="Times New Roman"/>
              </a:rPr>
              <a:t>Handles complex data(works well with heterogenous data)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SzPts val="1000"/>
            </a:pPr>
            <a:r>
              <a:rPr lang="en-IN" sz="1800">
                <a:latin typeface="Times New Roman"/>
                <a:cs typeface="Times New Roman"/>
              </a:rPr>
              <a:t>Feature importance analysis(accidents, roadworks...etc)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SzPts val="1000"/>
            </a:pPr>
            <a:r>
              <a:rPr lang="en-IN" sz="1800">
                <a:latin typeface="Times New Roman"/>
                <a:cs typeface="Times New Roman"/>
              </a:rPr>
              <a:t>Robust to overfitting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SzPts val="1000"/>
            </a:pPr>
            <a:r>
              <a:rPr lang="en-IN" sz="1800">
                <a:latin typeface="Times New Roman"/>
                <a:cs typeface="Times New Roman"/>
              </a:rPr>
              <a:t>Handles missing data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SzPts val="1000"/>
              <a:buNone/>
            </a:pPr>
            <a:endParaRPr lang="en-IN" sz="18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SzPts val="1000"/>
            </a:pPr>
            <a:endParaRPr lang="en-IN" sz="1800">
              <a:latin typeface="Times New Roman"/>
              <a:cs typeface="Times New Roman"/>
            </a:endParaRPr>
          </a:p>
          <a:p>
            <a:pPr marL="88900" indent="0">
              <a:buNone/>
            </a:pPr>
            <a:endParaRPr lang="en-US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2693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E8D5-A29D-2088-87BB-FA7D70EC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 in traffic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168A7-9E5E-6BAA-4B39-AB6D80412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>
                <a:latin typeface="Times New Roman"/>
              </a:rPr>
              <a:t>Classification tasks: Predicting whether a road segment is congested (high/low congestion).</a:t>
            </a:r>
          </a:p>
          <a:p>
            <a:pPr algn="just">
              <a:lnSpc>
                <a:spcPct val="150000"/>
              </a:lnSpc>
            </a:pPr>
            <a:r>
              <a:rPr lang="en-US">
                <a:latin typeface="Times New Roman"/>
              </a:rPr>
              <a:t>Regression tasks: Forecasting continuous values such as average speed travel time.</a:t>
            </a:r>
          </a:p>
          <a:p>
            <a:endParaRPr lang="en-US"/>
          </a:p>
          <a:p>
            <a:endParaRPr lang="en-US"/>
          </a:p>
          <a:p>
            <a:pPr marL="889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43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83F5-781D-A0AA-D443-7837354AE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XGBoost</a:t>
            </a:r>
            <a:r>
              <a:rPr lang="en-US"/>
              <a:t> (Extreme Gradient Boosting)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A0275-6C1D-BCB4-0C4F-68F47F5B6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600">
                <a:latin typeface="Times New Roman"/>
                <a:cs typeface="Times New Roman"/>
              </a:rPr>
              <a:t>An </a:t>
            </a:r>
            <a:r>
              <a:rPr lang="en-US" sz="1600" b="1">
                <a:latin typeface="Times New Roman"/>
                <a:cs typeface="Times New Roman"/>
              </a:rPr>
              <a:t>advanced gradient boosting algorithm</a:t>
            </a:r>
            <a:r>
              <a:rPr lang="en-US" sz="1600">
                <a:latin typeface="Times New Roman"/>
                <a:cs typeface="Times New Roman"/>
              </a:rPr>
              <a:t> that builds an ensemble of decision trees sequentially. Each tree corrects errors made by the previous one.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sz="1600">
                <a:latin typeface="Times New Roman"/>
                <a:cs typeface="Times New Roman"/>
              </a:rPr>
              <a:t>Known for its speed, accuracy, and ability to handle large datasets with high-dimensional features.</a:t>
            </a:r>
          </a:p>
          <a:p>
            <a:pPr marL="88900" indent="0" algn="just">
              <a:lnSpc>
                <a:spcPct val="150000"/>
              </a:lnSpc>
              <a:buNone/>
            </a:pPr>
            <a:endParaRPr lang="en-US" sz="1600">
              <a:latin typeface="Times New Roman"/>
              <a:cs typeface="Times New Roman"/>
            </a:endParaRPr>
          </a:p>
          <a:p>
            <a:pPr marL="88900" indent="0" algn="just">
              <a:lnSpc>
                <a:spcPct val="150000"/>
              </a:lnSpc>
              <a:buNone/>
            </a:pPr>
            <a:r>
              <a:rPr lang="en-US" sz="1600">
                <a:latin typeface="Times New Roman"/>
                <a:cs typeface="Times New Roman"/>
              </a:rPr>
              <a:t>Advantages: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Times New Roman"/>
                <a:cs typeface="Times New Roman"/>
              </a:rPr>
              <a:t>High accuracy and performance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Times New Roman"/>
                <a:cs typeface="Times New Roman"/>
              </a:rPr>
              <a:t>Handled missing and noisy data 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Times New Roman"/>
                <a:cs typeface="Times New Roman"/>
              </a:rPr>
              <a:t>Feature importance and interpretability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latin typeface="Times New Roman"/>
                <a:cs typeface="Times New Roman"/>
              </a:rPr>
              <a:t>Scability</a:t>
            </a:r>
            <a:r>
              <a:rPr lang="en-US" sz="1600">
                <a:latin typeface="Times New Roman"/>
                <a:cs typeface="Times New Roman"/>
              </a:rPr>
              <a:t> and speed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21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4B73-808E-A1BE-05EB-B4DB9610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in traffic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C53BD-F6E4-6182-451A-EE33BC58B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b="1">
                <a:latin typeface="Times New Roman"/>
                <a:cs typeface="Times New Roman"/>
              </a:rPr>
              <a:t>Regression Tasks:</a:t>
            </a:r>
            <a:r>
              <a:rPr lang="en-US" sz="1800">
                <a:latin typeface="Times New Roman"/>
                <a:cs typeface="Times New Roman"/>
              </a:rPr>
              <a:t> Predicting continuous variables like </a:t>
            </a:r>
            <a:r>
              <a:rPr lang="en-US" sz="1800" b="1">
                <a:latin typeface="Times New Roman"/>
                <a:cs typeface="Times New Roman"/>
              </a:rPr>
              <a:t>travel time index</a:t>
            </a:r>
            <a:r>
              <a:rPr lang="en-US" sz="1800">
                <a:latin typeface="Times New Roman"/>
                <a:cs typeface="Times New Roman"/>
              </a:rPr>
              <a:t> or </a:t>
            </a:r>
            <a:r>
              <a:rPr lang="en-US" sz="1800" b="1">
                <a:latin typeface="Times New Roman"/>
                <a:cs typeface="Times New Roman"/>
              </a:rPr>
              <a:t>traffic volume</a:t>
            </a:r>
            <a:r>
              <a:rPr lang="en-US" sz="1800">
                <a:latin typeface="Times New Roman"/>
                <a:cs typeface="Times New Roman"/>
              </a:rPr>
              <a:t>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sz="1800" b="1">
                <a:latin typeface="Times New Roman"/>
                <a:cs typeface="Times New Roman"/>
              </a:rPr>
              <a:t>Classification Tasks:</a:t>
            </a:r>
            <a:r>
              <a:rPr lang="en-US" sz="1800">
                <a:latin typeface="Times New Roman"/>
                <a:cs typeface="Times New Roman"/>
              </a:rPr>
              <a:t> Categorizing congestion levels (low, medium, high).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70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C617-EFEB-F1B0-CFC4-60B83F00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500993"/>
          </a:xfrm>
        </p:spPr>
        <p:txBody>
          <a:bodyPr/>
          <a:lstStyle/>
          <a:p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Why These Models Suit Traffic Prediction Proposal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7744B-251C-F54B-12F6-80EBEA84B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6466"/>
            <a:ext cx="8520600" cy="4965367"/>
          </a:xfrm>
        </p:spPr>
        <p:txBody>
          <a:bodyPr/>
          <a:lstStyle/>
          <a:p>
            <a:pPr marL="88900" indent="0" algn="just">
              <a:lnSpc>
                <a:spcPct val="150000"/>
              </a:lnSpc>
              <a:buNone/>
            </a:pPr>
            <a:r>
              <a:rPr lang="en-US" sz="1800" b="1">
                <a:latin typeface="Times New Roman"/>
                <a:cs typeface="Times New Roman"/>
              </a:rPr>
              <a:t>-&gt; Complex Relationships: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1800">
                <a:latin typeface="Times New Roman"/>
                <a:cs typeface="Times New Roman"/>
              </a:rPr>
              <a:t>Both models can handle the complex, non-linear relationships present in traffic data (e.g., impact of accidents, road closures, and weather conditions on congestion).</a:t>
            </a:r>
          </a:p>
          <a:p>
            <a:pPr marL="88900" indent="0" algn="just">
              <a:lnSpc>
                <a:spcPct val="150000"/>
              </a:lnSpc>
              <a:buNone/>
            </a:pPr>
            <a:r>
              <a:rPr lang="en-US" sz="1800" b="1">
                <a:latin typeface="Times New Roman"/>
                <a:cs typeface="Times New Roman"/>
              </a:rPr>
              <a:t>-&gt; Multiple Features: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1800">
                <a:latin typeface="Times New Roman"/>
                <a:cs typeface="Times New Roman"/>
              </a:rPr>
              <a:t>They can effectively utilize the </a:t>
            </a:r>
            <a:r>
              <a:rPr lang="en-US" sz="1800" b="1">
                <a:latin typeface="Times New Roman"/>
                <a:cs typeface="Times New Roman"/>
              </a:rPr>
              <a:t>heterogeneous parameters</a:t>
            </a:r>
            <a:r>
              <a:rPr lang="en-US" sz="1800">
                <a:latin typeface="Times New Roman"/>
                <a:cs typeface="Times New Roman"/>
              </a:rPr>
              <a:t> in  dataset (e.g., traffic volume, travel time index, incident reports, area names).</a:t>
            </a:r>
          </a:p>
          <a:p>
            <a:pPr marL="88900" indent="0" algn="just">
              <a:lnSpc>
                <a:spcPct val="150000"/>
              </a:lnSpc>
              <a:buNone/>
            </a:pPr>
            <a:r>
              <a:rPr lang="en-US" sz="1800" b="1">
                <a:latin typeface="Times New Roman"/>
                <a:cs typeface="Times New Roman"/>
              </a:rPr>
              <a:t>-&gt; Robustness and Accuracy:</a:t>
            </a:r>
            <a:endParaRPr lang="en-US" sz="1800">
              <a:latin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XGBoost</a:t>
            </a:r>
            <a:r>
              <a:rPr lang="en-US">
                <a:latin typeface="Times New Roman"/>
                <a:cs typeface="Times New Roman"/>
              </a:rPr>
              <a:t> provides higher accuracy for critical predictions, like future congestion levels.</a:t>
            </a:r>
          </a:p>
          <a:p>
            <a:pPr lvl="1" algn="just">
              <a:lnSpc>
                <a:spcPct val="150000"/>
              </a:lnSpc>
            </a:pPr>
            <a:r>
              <a:rPr lang="en-US" b="1">
                <a:latin typeface="Times New Roman"/>
                <a:cs typeface="Times New Roman"/>
              </a:rPr>
              <a:t>Random Forest</a:t>
            </a:r>
            <a:r>
              <a:rPr lang="en-US">
                <a:latin typeface="Times New Roman"/>
                <a:cs typeface="Times New Roman"/>
              </a:rPr>
              <a:t> offers robustness and easy interpretability, which is crucial for explaining results to stakeholders.</a:t>
            </a:r>
          </a:p>
          <a:p>
            <a:pPr marL="88900" indent="0" algn="just">
              <a:buNone/>
            </a:pPr>
            <a:endParaRPr lang="en-US" b="1">
              <a:latin typeface="Times New Roman"/>
              <a:cs typeface="Times New Roman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68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80D0-6213-48C3-17CB-6CAA2E2F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BD438-6B97-12BD-2BD4-38E3C14CF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 algn="just">
              <a:lnSpc>
                <a:spcPct val="150000"/>
              </a:lnSpc>
              <a:buNone/>
            </a:pPr>
            <a:r>
              <a:rPr lang="en-US" sz="1800" b="1">
                <a:latin typeface="Times New Roman"/>
                <a:cs typeface="Times New Roman"/>
              </a:rPr>
              <a:t>-&gt; Feature Importance:</a:t>
            </a:r>
            <a:endParaRPr lang="en-US" sz="18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1800">
                <a:latin typeface="Times New Roman"/>
                <a:cs typeface="Times New Roman"/>
              </a:rPr>
              <a:t>Both models can identify </a:t>
            </a:r>
            <a:r>
              <a:rPr lang="en-US" sz="1800" b="1">
                <a:latin typeface="Times New Roman"/>
                <a:cs typeface="Times New Roman"/>
              </a:rPr>
              <a:t>key congestion factors</a:t>
            </a:r>
            <a:r>
              <a:rPr lang="en-US" sz="1800">
                <a:latin typeface="Times New Roman"/>
                <a:cs typeface="Times New Roman"/>
              </a:rPr>
              <a:t>, supporting decision-making processes such as </a:t>
            </a:r>
            <a:r>
              <a:rPr lang="en-US" sz="1800" b="1">
                <a:latin typeface="Times New Roman"/>
                <a:cs typeface="Times New Roman"/>
              </a:rPr>
              <a:t>dynamic rerouting</a:t>
            </a:r>
            <a:r>
              <a:rPr lang="en-US" sz="1800">
                <a:latin typeface="Times New Roman"/>
                <a:cs typeface="Times New Roman"/>
              </a:rPr>
              <a:t> or </a:t>
            </a:r>
            <a:r>
              <a:rPr lang="en-US" sz="1800" b="1">
                <a:latin typeface="Times New Roman"/>
                <a:cs typeface="Times New Roman"/>
              </a:rPr>
              <a:t>signal optimization</a:t>
            </a:r>
            <a:r>
              <a:rPr lang="en-US" sz="1800">
                <a:latin typeface="Times New Roman"/>
                <a:cs typeface="Times New Roman"/>
              </a:rPr>
              <a:t>.</a:t>
            </a:r>
          </a:p>
          <a:p>
            <a:pPr marL="88900" indent="0" algn="just">
              <a:lnSpc>
                <a:spcPct val="150000"/>
              </a:lnSpc>
              <a:buNone/>
            </a:pPr>
            <a:r>
              <a:rPr lang="en-US" sz="1800" b="1">
                <a:latin typeface="Times New Roman"/>
                <a:cs typeface="Times New Roman"/>
              </a:rPr>
              <a:t>-&gt; Scalability:</a:t>
            </a:r>
            <a:endParaRPr lang="en-US" sz="1800">
              <a:latin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XGBoost</a:t>
            </a:r>
            <a:r>
              <a:rPr lang="en-US">
                <a:latin typeface="Times New Roman"/>
                <a:cs typeface="Times New Roman"/>
              </a:rPr>
              <a:t> is optimized for large datasets, making it ideal for big traffic datasets with many features.</a:t>
            </a:r>
          </a:p>
          <a:p>
            <a:pPr lvl="1" algn="just">
              <a:lnSpc>
                <a:spcPct val="150000"/>
              </a:lnSpc>
            </a:pPr>
            <a:r>
              <a:rPr lang="en-US" b="1">
                <a:latin typeface="Times New Roman"/>
                <a:cs typeface="Times New Roman"/>
              </a:rPr>
              <a:t>Random Forest</a:t>
            </a:r>
            <a:r>
              <a:rPr lang="en-US">
                <a:latin typeface="Times New Roman"/>
                <a:cs typeface="Times New Roman"/>
              </a:rPr>
              <a:t> is reliable for smaller to medium-sized datasets and provides quick insights.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19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3160-39A2-4B6D-AC71-1052D859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F1A44-3273-49C5-8A83-207C6A8CD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 algn="ctr">
              <a:buNone/>
            </a:pPr>
            <a:endParaRPr lang="en-US" sz="8800"/>
          </a:p>
          <a:p>
            <a:pPr marL="88900" indent="0" algn="ctr">
              <a:buNone/>
            </a:pPr>
            <a:r>
              <a:rPr lang="en-US" sz="88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" indent="0" algn="ctr">
              <a:buNone/>
            </a:pPr>
            <a:endParaRPr lang="en-IN" sz="8800"/>
          </a:p>
        </p:txBody>
      </p:sp>
    </p:spTree>
    <p:extLst>
      <p:ext uri="{BB962C8B-B14F-4D97-AF65-F5344CB8AC3E}">
        <p14:creationId xmlns:p14="http://schemas.microsoft.com/office/powerpoint/2010/main" val="148690636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Simple Light</vt:lpstr>
      <vt:lpstr>              RAC –02 PRESENTATION  Deepa C PhD Research  Scholar (Data Science) Register No : 2390019 CHRIST Deemed to be University Bangalore 03/12/2024  Under Guidance of  Dr Monisha Singh Department of Computer Science CHRIST Deemed to be University Bangalore </vt:lpstr>
      <vt:lpstr>Agenda</vt:lpstr>
      <vt:lpstr>Literature Review </vt:lpstr>
      <vt:lpstr>PowerPoint Presentation</vt:lpstr>
      <vt:lpstr>PowerPoint Presentation</vt:lpstr>
      <vt:lpstr>PowerPoint Presentation</vt:lpstr>
      <vt:lpstr>Parameters of Traffic Flow Prediction </vt:lpstr>
      <vt:lpstr>Derived Parameters </vt:lpstr>
      <vt:lpstr>Comparison of Traditional Models</vt:lpstr>
      <vt:lpstr>Comparison of different type of Machine Learning model</vt:lpstr>
      <vt:lpstr>Why to choose random forest and XGBoost for traffic flow prediction ?</vt:lpstr>
      <vt:lpstr>Use case  in traffic prediction</vt:lpstr>
      <vt:lpstr>XGBoost (Extreme Gradient Boosting) </vt:lpstr>
      <vt:lpstr>Use case in traffic prediction</vt:lpstr>
      <vt:lpstr>Why These Models Suit Traffic Prediction Proposal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BEAULAH SOUNDARABAI P COMPUTER SCIENCE</dc:creator>
  <cp:revision>6</cp:revision>
  <dcterms:modified xsi:type="dcterms:W3CDTF">2025-02-20T19:25:16Z</dcterms:modified>
</cp:coreProperties>
</file>