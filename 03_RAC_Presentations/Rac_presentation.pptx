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68" r:id="rId2"/>
    <p:sldId id="269" r:id="rId3"/>
    <p:sldId id="276" r:id="rId4"/>
    <p:sldId id="301" r:id="rId5"/>
    <p:sldId id="302" r:id="rId6"/>
    <p:sldId id="303" r:id="rId7"/>
    <p:sldId id="304" r:id="rId8"/>
    <p:sldId id="282" r:id="rId9"/>
    <p:sldId id="296" r:id="rId10"/>
    <p:sldId id="305" r:id="rId11"/>
    <p:sldId id="300" r:id="rId12"/>
    <p:sldId id="295" r:id="rId13"/>
    <p:sldId id="275" r:id="rId14"/>
  </p:sldIdLst>
  <p:sldSz cx="9144000" cy="6858000" type="screen4x3"/>
  <p:notesSz cx="6858000" cy="9144000"/>
  <p:embeddedFontLst>
    <p:embeddedFont>
      <p:font typeface="Archivo Narrow" panose="020B0604020202020204" charset="0"/>
      <p:regular r:id="rId16"/>
      <p:bold r:id="rId17"/>
      <p:italic r:id="rId18"/>
      <p:boldItalic r:id="rId19"/>
    </p:embeddedFont>
    <p:embeddedFont>
      <p:font typeface="Georgia" panose="02040502050405020303" pitchFamily="18"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371E0B-23FF-1B16-37FC-30DDE0D72A4F}" v="461" dt="2024-10-15T04:25:47.6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52"/>
  </p:normalViewPr>
  <p:slideViewPr>
    <p:cSldViewPr snapToGrid="0">
      <p:cViewPr>
        <p:scale>
          <a:sx n="134" d="100"/>
          <a:sy n="134" d="100"/>
        </p:scale>
        <p:origin x="1104"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309"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30992821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IN"/>
              <a:t>571e</a:t>
            </a:r>
          </a:p>
        </p:txBody>
      </p:sp>
    </p:spTree>
    <p:extLst>
      <p:ext uri="{BB962C8B-B14F-4D97-AF65-F5344CB8AC3E}">
        <p14:creationId xmlns:p14="http://schemas.microsoft.com/office/powerpoint/2010/main" val="26514055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0" y="1886797"/>
            <a:ext cx="8520600" cy="1842900"/>
          </a:xfrm>
          <a:prstGeom prst="rect">
            <a:avLst/>
          </a:prstGeom>
        </p:spPr>
        <p:txBody>
          <a:bodyPr spcFirstLastPara="1" wrap="square" lIns="91425" tIns="91425" rIns="91425" bIns="91425" anchor="b"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1" name="Shape 11"/>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Shape 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a:p>
        </p:txBody>
      </p:sp>
      <p:sp>
        <p:nvSpPr>
          <p:cNvPr id="13" name="Shape 13"/>
          <p:cNvSpPr/>
          <p:nvPr/>
        </p:nvSpPr>
        <p:spPr>
          <a:xfrm flipH="1">
            <a:off x="18" y="67300"/>
            <a:ext cx="9143982" cy="1420254"/>
          </a:xfrm>
          <a:prstGeom prst="flowChartDocument">
            <a:avLst/>
          </a:prstGeom>
          <a:no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 name="Shape 14"/>
          <p:cNvSpPr/>
          <p:nvPr/>
        </p:nvSpPr>
        <p:spPr>
          <a:xfrm flipH="1">
            <a:off x="18" y="0"/>
            <a:ext cx="9143982" cy="1420254"/>
          </a:xfrm>
          <a:prstGeom prst="flowChartDocument">
            <a:avLst/>
          </a:prstGeom>
          <a:solidFill>
            <a:srgbClr val="0B539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 name="Shape 15"/>
          <p:cNvSpPr/>
          <p:nvPr/>
        </p:nvSpPr>
        <p:spPr>
          <a:xfrm>
            <a:off x="-11025" y="5919900"/>
            <a:ext cx="9155100" cy="9381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Shape 16"/>
          <p:cNvSpPr txBox="1"/>
          <p:nvPr/>
        </p:nvSpPr>
        <p:spPr>
          <a:xfrm>
            <a:off x="25" y="5919900"/>
            <a:ext cx="3572100" cy="9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a:solidFill>
                  <a:srgbClr val="FFFFFF"/>
                </a:solidFill>
                <a:latin typeface="Georgia"/>
                <a:ea typeface="Georgia"/>
                <a:cs typeface="Georgia"/>
                <a:sym typeface="Georgia"/>
              </a:rPr>
              <a:t>MISSION</a:t>
            </a:r>
            <a:endParaRPr b="1">
              <a:solidFill>
                <a:srgbClr val="FFFFFF"/>
              </a:solidFill>
              <a:latin typeface="Georgia"/>
              <a:ea typeface="Georgia"/>
              <a:cs typeface="Georgia"/>
              <a:sym typeface="Georgia"/>
            </a:endParaRPr>
          </a:p>
          <a:p>
            <a:pPr marL="0" lvl="0" indent="0" algn="ctr" rtl="0">
              <a:spcBef>
                <a:spcPts val="0"/>
              </a:spcBef>
              <a:spcAft>
                <a:spcPts val="0"/>
              </a:spcAft>
              <a:buNone/>
            </a:pPr>
            <a:r>
              <a:rPr lang="en-GB" sz="1100">
                <a:solidFill>
                  <a:srgbClr val="FFFFFF"/>
                </a:solidFill>
                <a:latin typeface="Georgia"/>
                <a:ea typeface="Georgia"/>
                <a:cs typeface="Georgia"/>
                <a:sym typeface="Georgia"/>
              </a:rPr>
              <a:t>CHRIST is a nurturing ground for an individual’s holistic development to make effective contribution to the society in a dynamic environment</a:t>
            </a:r>
            <a:endParaRPr sz="1100">
              <a:solidFill>
                <a:srgbClr val="FFFFFF"/>
              </a:solidFill>
              <a:latin typeface="Georgia"/>
              <a:ea typeface="Georgia"/>
              <a:cs typeface="Georgia"/>
              <a:sym typeface="Georgia"/>
            </a:endParaRPr>
          </a:p>
        </p:txBody>
      </p:sp>
      <p:sp>
        <p:nvSpPr>
          <p:cNvPr id="17" name="Shape 17"/>
          <p:cNvSpPr txBox="1"/>
          <p:nvPr/>
        </p:nvSpPr>
        <p:spPr>
          <a:xfrm>
            <a:off x="3709075" y="5919900"/>
            <a:ext cx="2030700" cy="64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b="1">
                <a:solidFill>
                  <a:srgbClr val="FFFFFF"/>
                </a:solidFill>
                <a:latin typeface="Georgia"/>
                <a:ea typeface="Georgia"/>
                <a:cs typeface="Georgia"/>
                <a:sym typeface="Georgia"/>
              </a:rPr>
              <a:t>VISION</a:t>
            </a:r>
            <a:endParaRPr b="1">
              <a:solidFill>
                <a:srgbClr val="FFFFFF"/>
              </a:solidFill>
              <a:latin typeface="Georgia"/>
              <a:ea typeface="Georgia"/>
              <a:cs typeface="Georgia"/>
              <a:sym typeface="Georgia"/>
            </a:endParaRPr>
          </a:p>
          <a:p>
            <a:pPr marL="0" lvl="0" indent="0" algn="ctr" rtl="0">
              <a:spcBef>
                <a:spcPts val="0"/>
              </a:spcBef>
              <a:spcAft>
                <a:spcPts val="0"/>
              </a:spcAft>
              <a:buNone/>
            </a:pPr>
            <a:r>
              <a:rPr lang="en-GB" sz="1100">
                <a:solidFill>
                  <a:srgbClr val="FFFFFF"/>
                </a:solidFill>
                <a:latin typeface="Georgia"/>
                <a:ea typeface="Georgia"/>
                <a:cs typeface="Georgia"/>
                <a:sym typeface="Georgia"/>
              </a:rPr>
              <a:t>Excellence and Service</a:t>
            </a:r>
            <a:endParaRPr sz="1100">
              <a:solidFill>
                <a:srgbClr val="FFFFFF"/>
              </a:solidFill>
              <a:latin typeface="Georgia"/>
              <a:ea typeface="Georgia"/>
              <a:cs typeface="Georgia"/>
              <a:sym typeface="Georgia"/>
            </a:endParaRPr>
          </a:p>
        </p:txBody>
      </p:sp>
      <p:sp>
        <p:nvSpPr>
          <p:cNvPr id="18" name="Shape 18"/>
          <p:cNvSpPr txBox="1"/>
          <p:nvPr/>
        </p:nvSpPr>
        <p:spPr>
          <a:xfrm>
            <a:off x="6067875" y="5919900"/>
            <a:ext cx="2984400" cy="9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a:solidFill>
                  <a:srgbClr val="FFFFFF"/>
                </a:solidFill>
                <a:latin typeface="Georgia"/>
                <a:ea typeface="Georgia"/>
                <a:cs typeface="Georgia"/>
                <a:sym typeface="Georgia"/>
              </a:rPr>
              <a:t>CORE   VALUES</a:t>
            </a:r>
            <a:endParaRPr b="1">
              <a:solidFill>
                <a:srgbClr val="FFFFFF"/>
              </a:solidFill>
              <a:latin typeface="Georgia"/>
              <a:ea typeface="Georgia"/>
              <a:cs typeface="Georgia"/>
              <a:sym typeface="Georgia"/>
            </a:endParaRPr>
          </a:p>
          <a:p>
            <a:pPr marL="0" lvl="0" indent="0" algn="ctr" rtl="0">
              <a:spcBef>
                <a:spcPts val="0"/>
              </a:spcBef>
              <a:spcAft>
                <a:spcPts val="0"/>
              </a:spcAft>
              <a:buNone/>
            </a:pPr>
            <a:r>
              <a:rPr lang="en-GB" sz="1100">
                <a:solidFill>
                  <a:srgbClr val="FFFFFF"/>
                </a:solidFill>
                <a:latin typeface="Georgia"/>
                <a:ea typeface="Georgia"/>
                <a:cs typeface="Georgia"/>
                <a:sym typeface="Georgia"/>
              </a:rPr>
              <a:t>Faith in God |  Moral Uprightness</a:t>
            </a:r>
            <a:br>
              <a:rPr lang="en-GB" sz="1100">
                <a:solidFill>
                  <a:srgbClr val="FFFFFF"/>
                </a:solidFill>
                <a:latin typeface="Georgia"/>
                <a:ea typeface="Georgia"/>
                <a:cs typeface="Georgia"/>
                <a:sym typeface="Georgia"/>
              </a:rPr>
            </a:br>
            <a:r>
              <a:rPr lang="en-GB" sz="1100">
                <a:solidFill>
                  <a:srgbClr val="FFFFFF"/>
                </a:solidFill>
                <a:latin typeface="Georgia"/>
                <a:ea typeface="Georgia"/>
                <a:cs typeface="Georgia"/>
                <a:sym typeface="Georgia"/>
              </a:rPr>
              <a:t> Love of Fellow Beings   </a:t>
            </a:r>
            <a:br>
              <a:rPr lang="en-GB" sz="1100">
                <a:solidFill>
                  <a:srgbClr val="FFFFFF"/>
                </a:solidFill>
                <a:latin typeface="Georgia"/>
                <a:ea typeface="Georgia"/>
                <a:cs typeface="Georgia"/>
                <a:sym typeface="Georgia"/>
              </a:rPr>
            </a:br>
            <a:r>
              <a:rPr lang="en-GB" sz="1100">
                <a:solidFill>
                  <a:srgbClr val="FFFFFF"/>
                </a:solidFill>
                <a:latin typeface="Georgia"/>
                <a:ea typeface="Georgia"/>
                <a:cs typeface="Georgia"/>
                <a:sym typeface="Georgia"/>
              </a:rPr>
              <a:t>Social Responsibility | Pursuit of Excellence</a:t>
            </a:r>
            <a:endParaRPr sz="1100">
              <a:solidFill>
                <a:srgbClr val="FFFFFF"/>
              </a:solidFill>
              <a:latin typeface="Georgia"/>
              <a:ea typeface="Georgia"/>
              <a:cs typeface="Georgia"/>
              <a:sym typeface="Georgia"/>
            </a:endParaRPr>
          </a:p>
        </p:txBody>
      </p:sp>
      <p:pic>
        <p:nvPicPr>
          <p:cNvPr id="19" name="Shape 19"/>
          <p:cNvPicPr preferRelativeResize="0"/>
          <p:nvPr/>
        </p:nvPicPr>
        <p:blipFill>
          <a:blip r:embed="rId2">
            <a:alphaModFix/>
          </a:blip>
          <a:stretch>
            <a:fillRect/>
          </a:stretch>
        </p:blipFill>
        <p:spPr>
          <a:xfrm>
            <a:off x="5943450" y="232167"/>
            <a:ext cx="2764676" cy="100220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Shape 30"/>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lstStyle>
            <a:lvl1pPr marL="457200" lvl="0" indent="-368300">
              <a:spcBef>
                <a:spcPts val="0"/>
              </a:spcBef>
              <a:spcAft>
                <a:spcPts val="0"/>
              </a:spcAft>
              <a:buSzPts val="22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a:p>
        </p:txBody>
      </p:sp>
      <p:sp>
        <p:nvSpPr>
          <p:cNvPr id="31" name="Shape 3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a:p>
        </p:txBody>
      </p:sp>
      <p:sp>
        <p:nvSpPr>
          <p:cNvPr id="32" name="Shape 3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 name="Shape 3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34" name="Shape 3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 name="Shape 3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 name="Shape 3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9" name="Shape 39"/>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40" name="Shape 40"/>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41" name="Shape 4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a:p>
        </p:txBody>
      </p:sp>
      <p:sp>
        <p:nvSpPr>
          <p:cNvPr id="42" name="Shape 4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 name="Shape 4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44" name="Shape 4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 name="Shape 4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 name="Shape 4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9" name="Shape 4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a:p>
        </p:txBody>
      </p:sp>
      <p:sp>
        <p:nvSpPr>
          <p:cNvPr id="50" name="Shape 50"/>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 name="Shape 51"/>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52" name="Shape 52"/>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 name="Shape 53"/>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 name="Shape 54"/>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55"/>
        <p:cNvGrpSpPr/>
        <p:nvPr/>
      </p:nvGrpSpPr>
      <p:grpSpPr>
        <a:xfrm>
          <a:off x="0" y="0"/>
          <a:ext cx="0" cy="0"/>
          <a:chOff x="0" y="0"/>
          <a:chExt cx="0" cy="0"/>
        </a:xfrm>
      </p:grpSpPr>
      <p:sp>
        <p:nvSpPr>
          <p:cNvPr id="56" name="Shape 56"/>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7" name="Shape 57"/>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58" name="Shape 5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a:p>
        </p:txBody>
      </p:sp>
      <p:sp>
        <p:nvSpPr>
          <p:cNvPr id="59" name="Shape 59"/>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 name="Shape 60"/>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61" name="Shape 61"/>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 name="Shape 62"/>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 name="Shape 63"/>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Main point">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66" name="Shape 6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a:p>
        </p:txBody>
      </p:sp>
      <p:sp>
        <p:nvSpPr>
          <p:cNvPr id="67" name="Shape 67"/>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 name="Shape 68"/>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69" name="Shape 69"/>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 name="Shape 70"/>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 name="Shape 71"/>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72"/>
        <p:cNvGrpSpPr/>
        <p:nvPr/>
      </p:nvGrpSpPr>
      <p:grpSpPr>
        <a:xfrm>
          <a:off x="0" y="0"/>
          <a:ext cx="0" cy="0"/>
          <a:chOff x="0" y="0"/>
          <a:chExt cx="0" cy="0"/>
        </a:xfrm>
      </p:grpSpPr>
      <p:sp>
        <p:nvSpPr>
          <p:cNvPr id="73" name="Shape 73"/>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 name="Shape 74"/>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5" name="Shape 75"/>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6" name="Shape 76"/>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lstStyle>
            <a:lvl1pPr marL="457200" lvl="0" indent="-368300">
              <a:spcBef>
                <a:spcPts val="0"/>
              </a:spcBef>
              <a:spcAft>
                <a:spcPts val="0"/>
              </a:spcAft>
              <a:buSzPts val="22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a:p>
        </p:txBody>
      </p:sp>
      <p:sp>
        <p:nvSpPr>
          <p:cNvPr id="77" name="Shape 7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a:p>
        </p:txBody>
      </p:sp>
      <p:sp>
        <p:nvSpPr>
          <p:cNvPr id="78" name="Shape 78"/>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 name="Shape 79"/>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80" name="Shape 80"/>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 name="Shape 81"/>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 name="Shape 82"/>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aption">
    <p:spTree>
      <p:nvGrpSpPr>
        <p:cNvPr id="1" name="Shape 83"/>
        <p:cNvGrpSpPr/>
        <p:nvPr/>
      </p:nvGrpSpPr>
      <p:grpSpPr>
        <a:xfrm>
          <a:off x="0" y="0"/>
          <a:ext cx="0" cy="0"/>
          <a:chOff x="0" y="0"/>
          <a:chExt cx="0" cy="0"/>
        </a:xfrm>
      </p:grpSpPr>
      <p:sp>
        <p:nvSpPr>
          <p:cNvPr id="84" name="Shape 84"/>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2200"/>
              <a:buNone/>
              <a:defRPr/>
            </a:lvl1pPr>
          </a:lstStyle>
          <a:p>
            <a:endParaRPr/>
          </a:p>
        </p:txBody>
      </p:sp>
      <p:sp>
        <p:nvSpPr>
          <p:cNvPr id="85" name="Shape 8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a:p>
        </p:txBody>
      </p:sp>
      <p:sp>
        <p:nvSpPr>
          <p:cNvPr id="86" name="Shape 86"/>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 name="Shape 87"/>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88" name="Shape 88"/>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 name="Shape 89"/>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 name="Shape 90"/>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Big number">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311700" y="1474833"/>
            <a:ext cx="8520600" cy="26181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endParaRPr/>
          </a:p>
        </p:txBody>
      </p:sp>
      <p:sp>
        <p:nvSpPr>
          <p:cNvPr id="93" name="Shape 93"/>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lstStyle>
            <a:lvl1pPr marL="457200" lvl="0" indent="-368300" algn="ctr">
              <a:spcBef>
                <a:spcPts val="0"/>
              </a:spcBef>
              <a:spcAft>
                <a:spcPts val="0"/>
              </a:spcAft>
              <a:buSzPts val="2200"/>
              <a:buChar char="●"/>
              <a:defRPr/>
            </a:lvl1pPr>
            <a:lvl2pPr marL="914400" lvl="1" indent="-342900" algn="ctr">
              <a:spcBef>
                <a:spcPts val="600"/>
              </a:spcBef>
              <a:spcAft>
                <a:spcPts val="0"/>
              </a:spcAft>
              <a:buSzPts val="1800"/>
              <a:buChar char="○"/>
              <a:defRPr/>
            </a:lvl2pPr>
            <a:lvl3pPr marL="1371600" lvl="2" indent="-342900" algn="ctr">
              <a:spcBef>
                <a:spcPts val="600"/>
              </a:spcBef>
              <a:spcAft>
                <a:spcPts val="0"/>
              </a:spcAft>
              <a:buSzPts val="1800"/>
              <a:buChar char="■"/>
              <a:defRPr/>
            </a:lvl3pPr>
            <a:lvl4pPr marL="1828800" lvl="3" indent="-342900" algn="ctr">
              <a:spcBef>
                <a:spcPts val="600"/>
              </a:spcBef>
              <a:spcAft>
                <a:spcPts val="0"/>
              </a:spcAft>
              <a:buSzPts val="1800"/>
              <a:buChar char="●"/>
              <a:defRPr/>
            </a:lvl4pPr>
            <a:lvl5pPr marL="2286000" lvl="4" indent="-342900" algn="ctr">
              <a:spcBef>
                <a:spcPts val="600"/>
              </a:spcBef>
              <a:spcAft>
                <a:spcPts val="0"/>
              </a:spcAft>
              <a:buSzPts val="1800"/>
              <a:buChar char="○"/>
              <a:defRPr/>
            </a:lvl5pPr>
            <a:lvl6pPr marL="2743200" lvl="5" indent="-342900" algn="ctr">
              <a:spcBef>
                <a:spcPts val="600"/>
              </a:spcBef>
              <a:spcAft>
                <a:spcPts val="0"/>
              </a:spcAft>
              <a:buSzPts val="1800"/>
              <a:buChar char="■"/>
              <a:defRPr/>
            </a:lvl6pPr>
            <a:lvl7pPr marL="3200400" lvl="6" indent="-342900" algn="ctr">
              <a:spcBef>
                <a:spcPts val="600"/>
              </a:spcBef>
              <a:spcAft>
                <a:spcPts val="0"/>
              </a:spcAft>
              <a:buSzPts val="1800"/>
              <a:buChar char="●"/>
              <a:defRPr/>
            </a:lvl7pPr>
            <a:lvl8pPr marL="3657600" lvl="7" indent="-342900" algn="ctr">
              <a:spcBef>
                <a:spcPts val="600"/>
              </a:spcBef>
              <a:spcAft>
                <a:spcPts val="0"/>
              </a:spcAft>
              <a:buSzPts val="1800"/>
              <a:buChar char="○"/>
              <a:defRPr/>
            </a:lvl8pPr>
            <a:lvl9pPr marL="4114800" lvl="8" indent="-342900" algn="ctr">
              <a:spcBef>
                <a:spcPts val="600"/>
              </a:spcBef>
              <a:spcAft>
                <a:spcPts val="600"/>
              </a:spcAft>
              <a:buSzPts val="1800"/>
              <a:buChar char="■"/>
              <a:defRPr/>
            </a:lvl9pPr>
          </a:lstStyle>
          <a:p>
            <a:endParaRPr/>
          </a:p>
        </p:txBody>
      </p:sp>
      <p:sp>
        <p:nvSpPr>
          <p:cNvPr id="94" name="Shape 9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a:p>
        </p:txBody>
      </p:sp>
      <p:sp>
        <p:nvSpPr>
          <p:cNvPr id="95" name="Shape 95"/>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 name="Shape 96"/>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97" name="Shape 97"/>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 name="Shape 98"/>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 name="Shape 99"/>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00"/>
        <p:cNvGrpSpPr/>
        <p:nvPr/>
      </p:nvGrpSpPr>
      <p:grpSpPr>
        <a:xfrm>
          <a:off x="0" y="0"/>
          <a:ext cx="0" cy="0"/>
          <a:chOff x="0" y="0"/>
          <a:chExt cx="0" cy="0"/>
        </a:xfrm>
      </p:grpSpPr>
      <p:sp>
        <p:nvSpPr>
          <p:cNvPr id="101" name="Shape 10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a:p>
        </p:txBody>
      </p:sp>
      <p:sp>
        <p:nvSpPr>
          <p:cNvPr id="102" name="Shape 10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 name="Shape 10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104" name="Shape 10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 name="Shape 10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 name="Shape 10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lstStyle>
            <a:lvl1pPr lvl="0">
              <a:spcBef>
                <a:spcPts val="0"/>
              </a:spcBef>
              <a:spcAft>
                <a:spcPts val="0"/>
              </a:spcAft>
              <a:buSzPts val="2800"/>
              <a:buFont typeface="Archivo Narrow"/>
              <a:buNone/>
              <a:defRPr sz="2800" b="1">
                <a:latin typeface="Archivo Narrow"/>
                <a:ea typeface="Archivo Narrow"/>
                <a:cs typeface="Archivo Narrow"/>
                <a:sym typeface="Archivo Narrow"/>
              </a:defRPr>
            </a:lvl1pPr>
            <a:lvl2pPr lvl="1">
              <a:spcBef>
                <a:spcPts val="0"/>
              </a:spcBef>
              <a:spcAft>
                <a:spcPts val="0"/>
              </a:spcAft>
              <a:buSzPts val="2800"/>
              <a:buFont typeface="Archivo Narrow"/>
              <a:buNone/>
              <a:defRPr sz="2800" b="1">
                <a:latin typeface="Archivo Narrow"/>
                <a:ea typeface="Archivo Narrow"/>
                <a:cs typeface="Archivo Narrow"/>
                <a:sym typeface="Archivo Narrow"/>
              </a:defRPr>
            </a:lvl2pPr>
            <a:lvl3pPr lvl="2">
              <a:spcBef>
                <a:spcPts val="0"/>
              </a:spcBef>
              <a:spcAft>
                <a:spcPts val="0"/>
              </a:spcAft>
              <a:buSzPts val="2800"/>
              <a:buFont typeface="Archivo Narrow"/>
              <a:buNone/>
              <a:defRPr sz="2800" b="1">
                <a:latin typeface="Archivo Narrow"/>
                <a:ea typeface="Archivo Narrow"/>
                <a:cs typeface="Archivo Narrow"/>
                <a:sym typeface="Archivo Narrow"/>
              </a:defRPr>
            </a:lvl3pPr>
            <a:lvl4pPr lvl="3">
              <a:spcBef>
                <a:spcPts val="0"/>
              </a:spcBef>
              <a:spcAft>
                <a:spcPts val="0"/>
              </a:spcAft>
              <a:buSzPts val="2800"/>
              <a:buFont typeface="Archivo Narrow"/>
              <a:buNone/>
              <a:defRPr sz="2800" b="1">
                <a:latin typeface="Archivo Narrow"/>
                <a:ea typeface="Archivo Narrow"/>
                <a:cs typeface="Archivo Narrow"/>
                <a:sym typeface="Archivo Narrow"/>
              </a:defRPr>
            </a:lvl4pPr>
            <a:lvl5pPr lvl="4">
              <a:spcBef>
                <a:spcPts val="0"/>
              </a:spcBef>
              <a:spcAft>
                <a:spcPts val="0"/>
              </a:spcAft>
              <a:buSzPts val="2800"/>
              <a:buFont typeface="Archivo Narrow"/>
              <a:buNone/>
              <a:defRPr sz="2800" b="1">
                <a:latin typeface="Archivo Narrow"/>
                <a:ea typeface="Archivo Narrow"/>
                <a:cs typeface="Archivo Narrow"/>
                <a:sym typeface="Archivo Narrow"/>
              </a:defRPr>
            </a:lvl5pPr>
            <a:lvl6pPr lvl="5">
              <a:spcBef>
                <a:spcPts val="0"/>
              </a:spcBef>
              <a:spcAft>
                <a:spcPts val="0"/>
              </a:spcAft>
              <a:buSzPts val="2800"/>
              <a:buFont typeface="Archivo Narrow"/>
              <a:buNone/>
              <a:defRPr sz="2800" b="1">
                <a:latin typeface="Archivo Narrow"/>
                <a:ea typeface="Archivo Narrow"/>
                <a:cs typeface="Archivo Narrow"/>
                <a:sym typeface="Archivo Narrow"/>
              </a:defRPr>
            </a:lvl6pPr>
            <a:lvl7pPr lvl="6">
              <a:spcBef>
                <a:spcPts val="0"/>
              </a:spcBef>
              <a:spcAft>
                <a:spcPts val="0"/>
              </a:spcAft>
              <a:buSzPts val="2800"/>
              <a:buFont typeface="Archivo Narrow"/>
              <a:buNone/>
              <a:defRPr sz="2800" b="1">
                <a:latin typeface="Archivo Narrow"/>
                <a:ea typeface="Archivo Narrow"/>
                <a:cs typeface="Archivo Narrow"/>
                <a:sym typeface="Archivo Narrow"/>
              </a:defRPr>
            </a:lvl7pPr>
            <a:lvl8pPr lvl="7">
              <a:spcBef>
                <a:spcPts val="0"/>
              </a:spcBef>
              <a:spcAft>
                <a:spcPts val="0"/>
              </a:spcAft>
              <a:buSzPts val="2800"/>
              <a:buFont typeface="Archivo Narrow"/>
              <a:buNone/>
              <a:defRPr sz="2800" b="1">
                <a:latin typeface="Archivo Narrow"/>
                <a:ea typeface="Archivo Narrow"/>
                <a:cs typeface="Archivo Narrow"/>
                <a:sym typeface="Archivo Narrow"/>
              </a:defRPr>
            </a:lvl8pPr>
            <a:lvl9pPr lvl="8">
              <a:spcBef>
                <a:spcPts val="0"/>
              </a:spcBef>
              <a:spcAft>
                <a:spcPts val="0"/>
              </a:spcAft>
              <a:buSzPts val="2800"/>
              <a:buFont typeface="Archivo Narrow"/>
              <a:buNone/>
              <a:defRPr sz="2800" b="1">
                <a:latin typeface="Archivo Narrow"/>
                <a:ea typeface="Archivo Narrow"/>
                <a:cs typeface="Archivo Narrow"/>
                <a:sym typeface="Archivo Narrow"/>
              </a:defRPr>
            </a:lvl9pPr>
          </a:lstStyle>
          <a:p>
            <a:endParaRPr/>
          </a:p>
        </p:txBody>
      </p:sp>
      <p:sp>
        <p:nvSpPr>
          <p:cNvPr id="7" name="Shape 7"/>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lstStyle>
            <a:lvl1pPr marL="457200" lvl="0" indent="-368300">
              <a:lnSpc>
                <a:spcPct val="100000"/>
              </a:lnSpc>
              <a:spcBef>
                <a:spcPts val="0"/>
              </a:spcBef>
              <a:spcAft>
                <a:spcPts val="0"/>
              </a:spcAft>
              <a:buSzPts val="2200"/>
              <a:buFont typeface="Archivo Narrow"/>
              <a:buChar char="●"/>
              <a:defRPr sz="2200">
                <a:latin typeface="Archivo Narrow"/>
                <a:ea typeface="Archivo Narrow"/>
                <a:cs typeface="Archivo Narrow"/>
                <a:sym typeface="Archivo Narrow"/>
              </a:defRPr>
            </a:lvl1pPr>
            <a:lvl2pPr marL="914400" lvl="1"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2pPr>
            <a:lvl3pPr marL="1371600" lvl="2"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3pPr>
            <a:lvl4pPr marL="1828800" lvl="3"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4pPr>
            <a:lvl5pPr marL="2286000" lvl="4"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5pPr>
            <a:lvl6pPr marL="2743200" lvl="5"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6pPr>
            <a:lvl7pPr marL="3200400" lvl="6"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7pPr>
            <a:lvl8pPr marL="3657600" lvl="7"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8pPr>
            <a:lvl9pPr marL="4114800" lvl="8" indent="-342900">
              <a:lnSpc>
                <a:spcPct val="100000"/>
              </a:lnSpc>
              <a:spcBef>
                <a:spcPts val="600"/>
              </a:spcBef>
              <a:spcAft>
                <a:spcPts val="600"/>
              </a:spcAft>
              <a:buSzPts val="1800"/>
              <a:buFont typeface="Archivo Narrow"/>
              <a:buChar char="■"/>
              <a:defRPr sz="1800">
                <a:latin typeface="Archivo Narrow"/>
                <a:ea typeface="Archivo Narrow"/>
                <a:cs typeface="Archivo Narrow"/>
                <a:sym typeface="Archivo Narrow"/>
              </a:defRPr>
            </a:lvl9pPr>
          </a:lstStyle>
          <a:p>
            <a:endParaRPr/>
          </a:p>
        </p:txBody>
      </p:sp>
      <p:sp>
        <p:nvSpPr>
          <p:cNvPr id="8" name="Shape 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spcBef>
                <a:spcPts val="0"/>
              </a:spcBef>
              <a:buNone/>
              <a:defRPr sz="1000">
                <a:solidFill>
                  <a:schemeClr val="dk2"/>
                </a:solidFill>
              </a:defRPr>
            </a:lvl1pPr>
            <a:lvl2pPr lvl="1" algn="r">
              <a:spcBef>
                <a:spcPts val="0"/>
              </a:spcBef>
              <a:buNone/>
              <a:defRPr sz="1000">
                <a:solidFill>
                  <a:schemeClr val="dk2"/>
                </a:solidFill>
              </a:defRPr>
            </a:lvl2pPr>
            <a:lvl3pPr lvl="2" algn="r">
              <a:spcBef>
                <a:spcPts val="0"/>
              </a:spcBef>
              <a:buNone/>
              <a:defRPr sz="1000">
                <a:solidFill>
                  <a:schemeClr val="dk2"/>
                </a:solidFill>
              </a:defRPr>
            </a:lvl3pPr>
            <a:lvl4pPr lvl="3" algn="r">
              <a:spcBef>
                <a:spcPts val="0"/>
              </a:spcBef>
              <a:buNone/>
              <a:defRPr sz="1000">
                <a:solidFill>
                  <a:schemeClr val="dk2"/>
                </a:solidFill>
              </a:defRPr>
            </a:lvl4pPr>
            <a:lvl5pPr lvl="4" algn="r">
              <a:spcBef>
                <a:spcPts val="0"/>
              </a:spcBef>
              <a:buNone/>
              <a:defRPr sz="1000">
                <a:solidFill>
                  <a:schemeClr val="dk2"/>
                </a:solidFill>
              </a:defRPr>
            </a:lvl5pPr>
            <a:lvl6pPr lvl="5" algn="r">
              <a:spcBef>
                <a:spcPts val="0"/>
              </a:spcBef>
              <a:buNone/>
              <a:defRPr sz="1000">
                <a:solidFill>
                  <a:schemeClr val="dk2"/>
                </a:solidFill>
              </a:defRPr>
            </a:lvl6pPr>
            <a:lvl7pPr lvl="6" algn="r">
              <a:spcBef>
                <a:spcPts val="0"/>
              </a:spcBef>
              <a:buNone/>
              <a:defRPr sz="1000">
                <a:solidFill>
                  <a:schemeClr val="dk2"/>
                </a:solidFill>
              </a:defRPr>
            </a:lvl7pPr>
            <a:lvl8pPr lvl="7" algn="r">
              <a:spcBef>
                <a:spcPts val="0"/>
              </a:spcBef>
              <a:buNone/>
              <a:defRPr sz="1000">
                <a:solidFill>
                  <a:schemeClr val="dk2"/>
                </a:solidFill>
              </a:defRPr>
            </a:lvl8pPr>
            <a:lvl9pPr lvl="8" algn="r">
              <a:spcBef>
                <a:spcPts val="0"/>
              </a:spcBef>
              <a:buNone/>
              <a:defRPr sz="1000">
                <a:solidFill>
                  <a:schemeClr val="dk2"/>
                </a:solidFill>
              </a:defRPr>
            </a:lvl9pPr>
          </a:lstStyle>
          <a:p>
            <a:pPr marL="0" lvl="0" indent="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41C93-2ABF-4111-B726-020BABF28E6C}"/>
              </a:ext>
            </a:extLst>
          </p:cNvPr>
          <p:cNvSpPr>
            <a:spLocks noGrp="1"/>
          </p:cNvSpPr>
          <p:nvPr>
            <p:ph type="ctrTitle"/>
          </p:nvPr>
        </p:nvSpPr>
        <p:spPr>
          <a:xfrm>
            <a:off x="217431" y="1167225"/>
            <a:ext cx="8520600" cy="4523550"/>
          </a:xfrm>
        </p:spPr>
        <p:txBody>
          <a:bodyPr>
            <a:normAutofit fontScale="90000"/>
          </a:bodyPr>
          <a:lstStyle/>
          <a:p>
            <a:br>
              <a:rPr lang="en-IN" sz="3000" dirty="0"/>
            </a:br>
            <a:br>
              <a:rPr lang="en-IN" sz="3000" dirty="0"/>
            </a:br>
            <a:br>
              <a:rPr lang="en-IN" sz="3000" dirty="0"/>
            </a:br>
            <a:br>
              <a:rPr lang="en-IN" sz="3000" dirty="0"/>
            </a:br>
            <a:br>
              <a:rPr lang="en-IN" sz="3000" dirty="0"/>
            </a:br>
            <a:br>
              <a:rPr lang="en-IN" sz="3000" dirty="0"/>
            </a:br>
            <a:br>
              <a:rPr lang="en-IN" sz="3000" dirty="0"/>
            </a:br>
            <a:br>
              <a:rPr lang="en-IN" sz="3000" dirty="0"/>
            </a:br>
            <a:br>
              <a:rPr lang="en-IN" sz="3000" dirty="0"/>
            </a:br>
            <a:br>
              <a:rPr lang="en-IN" sz="3000" dirty="0"/>
            </a:br>
            <a:br>
              <a:rPr lang="en-IN" sz="3000" dirty="0"/>
            </a:br>
            <a:br>
              <a:rPr lang="en-IN" sz="3000" dirty="0"/>
            </a:br>
            <a:br>
              <a:rPr lang="en-IN" sz="3000" dirty="0"/>
            </a:br>
            <a:br>
              <a:rPr lang="en-IN" sz="3000" dirty="0"/>
            </a:br>
            <a:r>
              <a:rPr lang="en-IN" sz="3000" dirty="0"/>
              <a:t>Proposal Presentation</a:t>
            </a:r>
            <a:br>
              <a:rPr lang="en-IN" sz="3000" dirty="0"/>
            </a:br>
            <a:br>
              <a:rPr lang="en-IN" sz="3000" dirty="0"/>
            </a:br>
            <a:r>
              <a:rPr lang="en-IN" sz="1800" b="0" dirty="0"/>
              <a:t>Deepa C</a:t>
            </a:r>
            <a:br>
              <a:rPr lang="en-IN" sz="1800" b="0" dirty="0"/>
            </a:br>
            <a:r>
              <a:rPr lang="en-IN" sz="1800" b="0" dirty="0"/>
              <a:t>PhD Research  Scholar (Data Science)</a:t>
            </a:r>
            <a:br>
              <a:rPr lang="en-IN" sz="1800" b="0" dirty="0"/>
            </a:br>
            <a:r>
              <a:rPr lang="en-IN" sz="1800" b="0" dirty="0"/>
              <a:t>Register No : 2390019</a:t>
            </a:r>
            <a:br>
              <a:rPr lang="en-IN" sz="1800" b="0" dirty="0"/>
            </a:br>
            <a:r>
              <a:rPr lang="en-IN" sz="1800" b="0" dirty="0"/>
              <a:t>CHRIST Deemed to be University</a:t>
            </a:r>
            <a:br>
              <a:rPr lang="en-IN" sz="1800" b="0" dirty="0"/>
            </a:br>
            <a:r>
              <a:rPr lang="en-IN" sz="1800" b="0" dirty="0"/>
              <a:t>Bangalore</a:t>
            </a:r>
            <a:br>
              <a:rPr lang="en-IN" sz="1800" b="0" dirty="0"/>
            </a:br>
            <a:br>
              <a:rPr lang="en-IN" sz="1800" b="0" dirty="0"/>
            </a:br>
            <a:br>
              <a:rPr lang="en-IN" sz="1800" dirty="0"/>
            </a:br>
            <a:r>
              <a:rPr lang="en-IN" sz="1800" dirty="0"/>
              <a:t>Under Guidance of </a:t>
            </a:r>
            <a:br>
              <a:rPr lang="en-IN" sz="1800" dirty="0"/>
            </a:br>
            <a:r>
              <a:rPr lang="en-IN" sz="1800" b="0" dirty="0"/>
              <a:t>Dr </a:t>
            </a:r>
            <a:r>
              <a:rPr lang="en-IN" sz="1800" b="0" dirty="0" err="1"/>
              <a:t>Monisha</a:t>
            </a:r>
            <a:r>
              <a:rPr lang="en-IN" sz="1800" b="0" dirty="0"/>
              <a:t> Singh</a:t>
            </a:r>
            <a:br>
              <a:rPr lang="en-IN" sz="1800" b="0" dirty="0"/>
            </a:br>
            <a:r>
              <a:rPr lang="en-IN" sz="1800" b="0" dirty="0"/>
              <a:t>Department of Computer Science</a:t>
            </a:r>
            <a:br>
              <a:rPr lang="en-IN" sz="1800" b="0" dirty="0"/>
            </a:br>
            <a:r>
              <a:rPr lang="en-IN" sz="1800" b="0" dirty="0"/>
              <a:t>CHRIST Deemed to be University</a:t>
            </a:r>
            <a:br>
              <a:rPr lang="en-IN" sz="1800" b="0" dirty="0"/>
            </a:br>
            <a:r>
              <a:rPr lang="en-IN" sz="1800" b="0" dirty="0"/>
              <a:t>Bangalore</a:t>
            </a:r>
            <a:br>
              <a:rPr lang="en-IN" sz="1800" b="0" dirty="0"/>
            </a:br>
            <a:endParaRPr lang="en-IN" sz="1800" b="0" dirty="0"/>
          </a:p>
        </p:txBody>
      </p:sp>
    </p:spTree>
    <p:extLst>
      <p:ext uri="{BB962C8B-B14F-4D97-AF65-F5344CB8AC3E}">
        <p14:creationId xmlns:p14="http://schemas.microsoft.com/office/powerpoint/2010/main" val="1165036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9D1CD-7034-4D49-A4A9-165CB86F859C}"/>
              </a:ext>
            </a:extLst>
          </p:cNvPr>
          <p:cNvSpPr>
            <a:spLocks noGrp="1"/>
          </p:cNvSpPr>
          <p:nvPr>
            <p:ph type="title"/>
          </p:nvPr>
        </p:nvSpPr>
        <p:spPr/>
        <p:txBody>
          <a:bodyPr/>
          <a:lstStyle/>
          <a:p>
            <a:r>
              <a:rPr lang="en-IN" dirty="0"/>
              <a:t>Agenda</a:t>
            </a:r>
          </a:p>
        </p:txBody>
      </p:sp>
      <p:sp>
        <p:nvSpPr>
          <p:cNvPr id="3" name="Text Placeholder 2">
            <a:extLst>
              <a:ext uri="{FF2B5EF4-FFF2-40B4-BE49-F238E27FC236}">
                <a16:creationId xmlns:a16="http://schemas.microsoft.com/office/drawing/2014/main" id="{5F9749B2-F1AC-4BD0-BFE2-DC662A27EE38}"/>
              </a:ext>
            </a:extLst>
          </p:cNvPr>
          <p:cNvSpPr>
            <a:spLocks noGrp="1"/>
          </p:cNvSpPr>
          <p:nvPr>
            <p:ph type="body" idx="1"/>
          </p:nvPr>
        </p:nvSpPr>
        <p:spPr/>
        <p:txBody>
          <a:bodyPr/>
          <a:lstStyle/>
          <a:p>
            <a:pPr>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Origin of the Research</a:t>
            </a:r>
          </a:p>
          <a:p>
            <a:pPr>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Introduction</a:t>
            </a:r>
          </a:p>
          <a:p>
            <a:pPr>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Literature review(Review of Research of the Subject)</a:t>
            </a:r>
          </a:p>
          <a:p>
            <a:pPr>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Research Gap</a:t>
            </a:r>
          </a:p>
          <a:p>
            <a:pPr>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Problem Statement</a:t>
            </a:r>
          </a:p>
          <a:p>
            <a:pPr>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Specific Objective</a:t>
            </a:r>
          </a:p>
          <a:p>
            <a:pPr>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Research Methodology</a:t>
            </a:r>
          </a:p>
          <a:p>
            <a:pPr>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Plan of the Work </a:t>
            </a:r>
          </a:p>
          <a:p>
            <a:pPr marL="88900" indent="0">
              <a:buNone/>
            </a:pPr>
            <a:r>
              <a:rPr lang="en-IN" dirty="0"/>
              <a:t>	</a:t>
            </a:r>
          </a:p>
          <a:p>
            <a:pPr marL="88900" indent="0">
              <a:buNone/>
            </a:pPr>
            <a:r>
              <a:rPr lang="en-IN" dirty="0"/>
              <a:t>	</a:t>
            </a:r>
          </a:p>
        </p:txBody>
      </p:sp>
    </p:spTree>
    <p:extLst>
      <p:ext uri="{BB962C8B-B14F-4D97-AF65-F5344CB8AC3E}">
        <p14:creationId xmlns:p14="http://schemas.microsoft.com/office/powerpoint/2010/main" val="3691562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3C5A-67AF-58D7-67F8-1C103CEB528F}"/>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51C64CA1-2E64-A1AA-FFBC-379789751F71}"/>
              </a:ext>
            </a:extLst>
          </p:cNvPr>
          <p:cNvSpPr>
            <a:spLocks noGrp="1"/>
          </p:cNvSpPr>
          <p:nvPr>
            <p:ph type="body" idx="1"/>
          </p:nvPr>
        </p:nvSpPr>
        <p:spPr/>
        <p:txBody>
          <a:bodyPr/>
          <a:lstStyle/>
          <a:p>
            <a:pPr>
              <a:lnSpc>
                <a:spcPct val="150000"/>
              </a:lnSpc>
            </a:pPr>
            <a:endParaRPr lang="en-IN" sz="1800" dirty="0">
              <a:effectLst/>
              <a:latin typeface="Times New Roman"/>
            </a:endParaRPr>
          </a:p>
          <a:p>
            <a:pPr marL="914400" indent="-342900" algn="just">
              <a:lnSpc>
                <a:spcPct val="150000"/>
              </a:lnSpc>
              <a:buSzPts val="1000"/>
              <a:buFont typeface="Archivo Narrow" panose="02070309020205020404" pitchFamily="49" charset="0"/>
              <a:buChar char="●"/>
              <a:tabLst>
                <a:tab pos="914400" algn="l"/>
              </a:tabLst>
            </a:pPr>
            <a:r>
              <a:rPr lang="en-IN" sz="1600">
                <a:latin typeface="Times New Roman"/>
                <a:cs typeface="Times New Roman"/>
              </a:rPr>
              <a:t>Urban traffic congestion is a growing issue in many cities, leading to delays, accidents, and inefficiencies in transportation systems.</a:t>
            </a:r>
            <a:endParaRPr lang="en-IN" sz="1600" kern="100">
              <a:latin typeface="Times New Roman"/>
              <a:cs typeface="Times New Roman"/>
            </a:endParaRPr>
          </a:p>
          <a:p>
            <a:pPr lvl="1" algn="just">
              <a:lnSpc>
                <a:spcPct val="150000"/>
              </a:lnSpc>
              <a:buSzPts val="1000"/>
              <a:buFont typeface="Archivo Narrow" panose="02070309020205020404" pitchFamily="49" charset="0"/>
              <a:buChar char="●"/>
              <a:tabLst>
                <a:tab pos="914400" algn="l"/>
              </a:tabLst>
            </a:pPr>
            <a:r>
              <a:rPr lang="en-IN" sz="1600" dirty="0">
                <a:latin typeface="Times New Roman"/>
                <a:cs typeface="Times New Roman"/>
              </a:rPr>
              <a:t>The rise in vehicle numbers and road network complexities creates challenges in predicting traffic flow and managing congestion effectively.</a:t>
            </a:r>
          </a:p>
          <a:p>
            <a:pPr lvl="1" algn="just">
              <a:lnSpc>
                <a:spcPct val="150000"/>
              </a:lnSpc>
              <a:buSzPts val="1000"/>
              <a:buFont typeface="Archivo Narrow" panose="02070309020205020404" pitchFamily="49" charset="0"/>
              <a:buChar char="●"/>
              <a:tabLst>
                <a:tab pos="914400" algn="l"/>
              </a:tabLst>
            </a:pPr>
            <a:r>
              <a:rPr lang="en-IN" sz="1600">
                <a:latin typeface="Times New Roman"/>
                <a:cs typeface="Times New Roman"/>
              </a:rPr>
              <a:t>Integrating  factors</a:t>
            </a:r>
            <a:r>
              <a:rPr lang="en-IN" sz="1600" dirty="0">
                <a:latin typeface="Times New Roman"/>
                <a:cs typeface="Times New Roman"/>
              </a:rPr>
              <a:t> like accidents, road closures, and traffic volume is key to developing more responsive traffic management systems.</a:t>
            </a:r>
          </a:p>
          <a:p>
            <a:pPr lvl="1" algn="just">
              <a:lnSpc>
                <a:spcPct val="150000"/>
              </a:lnSpc>
              <a:buSzPts val="1000"/>
              <a:buFont typeface="Archivo Narrow" panose="02070309020205020404" pitchFamily="49" charset="0"/>
              <a:buChar char="●"/>
              <a:tabLst>
                <a:tab pos="914400" algn="l"/>
              </a:tabLst>
            </a:pPr>
            <a:r>
              <a:rPr lang="en-IN" sz="1600" dirty="0">
                <a:latin typeface="Times New Roman"/>
                <a:cs typeface="Times New Roman"/>
              </a:rPr>
              <a:t>This research aims to address these challenges by using machine learning to predict traffic flow and propose actionable solutions for improving urban traffic conditions</a:t>
            </a:r>
          </a:p>
          <a:p>
            <a:pPr marL="742950" lvl="1" indent="-285750">
              <a:lnSpc>
                <a:spcPct val="114999"/>
              </a:lnSpc>
              <a:spcAft>
                <a:spcPts val="800"/>
              </a:spcAft>
              <a:buSzPts val="1000"/>
              <a:buFont typeface="Courier New" panose="02070309020205020404" pitchFamily="49" charset="0"/>
              <a:buChar char="o"/>
              <a:tabLst>
                <a:tab pos="914400" algn="l"/>
              </a:tabLst>
            </a:pPr>
            <a:endParaRPr lang="en-IN" dirty="0">
              <a:latin typeface="Times New Roman"/>
              <a:cs typeface="Times New Roman"/>
            </a:endParaRPr>
          </a:p>
          <a:p>
            <a:pPr marL="742950" lvl="1" indent="-285750">
              <a:lnSpc>
                <a:spcPct val="115000"/>
              </a:lnSpc>
              <a:spcAft>
                <a:spcPts val="800"/>
              </a:spcAft>
              <a:buSzPts val="1000"/>
              <a:buFont typeface="Courier New" panose="02070309020205020404" pitchFamily="49" charset="0"/>
              <a:buChar char="o"/>
              <a:tabLst>
                <a:tab pos="914400" algn="l"/>
              </a:tabLst>
            </a:pP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marL="8890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0878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3C5A-67AF-58D7-67F8-1C103CEB528F}"/>
              </a:ext>
            </a:extLst>
          </p:cNvPr>
          <p:cNvSpPr>
            <a:spLocks noGrp="1"/>
          </p:cNvSpPr>
          <p:nvPr>
            <p:ph type="title"/>
          </p:nvPr>
        </p:nvSpPr>
        <p:spPr/>
        <p:txBody>
          <a:bodyPr/>
          <a:lstStyle/>
          <a:p>
            <a:r>
              <a:rPr lang="en-US" sz="2400" dirty="0">
                <a:latin typeface="Times New Roman"/>
              </a:rPr>
              <a:t>Literature Review </a:t>
            </a:r>
          </a:p>
        </p:txBody>
      </p:sp>
      <p:sp>
        <p:nvSpPr>
          <p:cNvPr id="3" name="Text Placeholder 2">
            <a:extLst>
              <a:ext uri="{FF2B5EF4-FFF2-40B4-BE49-F238E27FC236}">
                <a16:creationId xmlns:a16="http://schemas.microsoft.com/office/drawing/2014/main" id="{51C64CA1-2E64-A1AA-FFBC-379789751F71}"/>
              </a:ext>
            </a:extLst>
          </p:cNvPr>
          <p:cNvSpPr>
            <a:spLocks noGrp="1"/>
          </p:cNvSpPr>
          <p:nvPr>
            <p:ph type="body" idx="1"/>
          </p:nvPr>
        </p:nvSpPr>
        <p:spPr/>
        <p:txBody>
          <a:bodyPr/>
          <a:lstStyle/>
          <a:p>
            <a:pPr marL="88900" indent="0">
              <a:lnSpc>
                <a:spcPct val="150000"/>
              </a:lnSpc>
              <a:buNone/>
            </a:pPr>
            <a:r>
              <a:rPr lang="en-IN" sz="1600" b="1">
                <a:latin typeface="Times New Roman"/>
              </a:rPr>
              <a:t>Paper –01 : </a:t>
            </a:r>
            <a:r>
              <a:rPr lang="en-IN" sz="1600" dirty="0">
                <a:latin typeface="Times New Roman"/>
              </a:rPr>
              <a:t>"A Machine Learning Based Approach for the prediction of road traffic flow on urbanised arterial roads"</a:t>
            </a:r>
            <a:endParaRPr lang="en-US"/>
          </a:p>
          <a:p>
            <a:pPr>
              <a:lnSpc>
                <a:spcPct val="150000"/>
              </a:lnSpc>
            </a:pPr>
            <a:r>
              <a:rPr lang="en-IN" sz="1600" dirty="0">
                <a:latin typeface="Times New Roman"/>
              </a:rPr>
              <a:t>This study applies</a:t>
            </a:r>
            <a:r>
              <a:rPr lang="en-IN" sz="1600" b="1" dirty="0">
                <a:latin typeface="Times New Roman"/>
              </a:rPr>
              <a:t> </a:t>
            </a:r>
            <a:r>
              <a:rPr lang="en-IN" sz="1600" dirty="0">
                <a:latin typeface="Times New Roman"/>
              </a:rPr>
              <a:t>machine learning model</a:t>
            </a:r>
            <a:r>
              <a:rPr lang="en-IN" sz="1600" b="1" dirty="0">
                <a:latin typeface="Times New Roman"/>
              </a:rPr>
              <a:t>s</a:t>
            </a:r>
            <a:r>
              <a:rPr lang="en-IN" sz="1600" dirty="0">
                <a:latin typeface="Times New Roman"/>
              </a:rPr>
              <a:t> to predict road traffic congestion on </a:t>
            </a:r>
            <a:r>
              <a:rPr lang="en-IN" sz="1600" b="1" dirty="0">
                <a:latin typeface="Times New Roman"/>
              </a:rPr>
              <a:t>urbanized arterial roads</a:t>
            </a:r>
            <a:r>
              <a:rPr lang="en-IN" sz="1600" dirty="0">
                <a:latin typeface="Times New Roman"/>
              </a:rPr>
              <a:t>. By </a:t>
            </a:r>
            <a:r>
              <a:rPr lang="en-IN" sz="1600" err="1">
                <a:latin typeface="Times New Roman"/>
              </a:rPr>
              <a:t>analyzing</a:t>
            </a:r>
            <a:r>
              <a:rPr lang="en-IN" sz="1600" dirty="0">
                <a:latin typeface="Times New Roman"/>
              </a:rPr>
              <a:t> different vehicle classes and input parameters, the research investigates how different vehicles impacts prediction accuracy. Comparative results show that the Artificial Neural Network (ANN) outperforms other models in short-term traffic flow prediction. The findings highlight the value of machine learning in mitigating congestion and improving traffic management on key urban roads.</a:t>
            </a:r>
            <a:endParaRPr lang="en-IN" sz="1600" dirty="0">
              <a:effectLst/>
              <a:latin typeface="Times New Roman"/>
            </a:endParaRPr>
          </a:p>
          <a:p>
            <a:pPr marL="88900" indent="0">
              <a:lnSpc>
                <a:spcPct val="150000"/>
              </a:lnSpc>
              <a:buNone/>
              <a:tabLst>
                <a:tab pos="914400" algn="l"/>
              </a:tabLst>
            </a:pPr>
            <a:r>
              <a:rPr lang="en-IN" sz="1600">
                <a:latin typeface="Times New Roman"/>
                <a:cs typeface="Times New Roman"/>
              </a:rPr>
              <a:t>Research Gap:</a:t>
            </a:r>
            <a:endParaRPr lang="en-IN" sz="1600" dirty="0">
              <a:latin typeface="Times New Roman"/>
              <a:cs typeface="Times New Roman"/>
            </a:endParaRPr>
          </a:p>
          <a:p>
            <a:pPr>
              <a:lnSpc>
                <a:spcPct val="150000"/>
              </a:lnSpc>
              <a:tabLst>
                <a:tab pos="914400" algn="l"/>
              </a:tabLst>
            </a:pPr>
            <a:r>
              <a:rPr lang="en-US" sz="1600">
                <a:latin typeface="Times New Roman"/>
                <a:cs typeface="Times New Roman"/>
              </a:rPr>
              <a:t>Heterogeneous Traffic in Real-Time</a:t>
            </a:r>
          </a:p>
          <a:p>
            <a:pPr>
              <a:lnSpc>
                <a:spcPct val="150000"/>
              </a:lnSpc>
              <a:tabLst>
                <a:tab pos="914400" algn="l"/>
              </a:tabLst>
            </a:pPr>
            <a:r>
              <a:rPr lang="en-US" sz="1600" dirty="0">
                <a:latin typeface="Times New Roman"/>
                <a:cs typeface="Times New Roman"/>
              </a:rPr>
              <a:t>Limited to Short-Term Predictions</a:t>
            </a:r>
          </a:p>
          <a:p>
            <a:pPr>
              <a:lnSpc>
                <a:spcPct val="150000"/>
              </a:lnSpc>
              <a:tabLst>
                <a:tab pos="914400" algn="l"/>
              </a:tabLst>
            </a:pPr>
            <a:r>
              <a:rPr lang="en-US" sz="1600" dirty="0">
                <a:latin typeface="Times New Roman"/>
                <a:cs typeface="Times New Roman"/>
              </a:rPr>
              <a:t>Focus on Arterial Roads</a:t>
            </a:r>
          </a:p>
          <a:p>
            <a:pPr marL="742950" lvl="1" indent="-285750">
              <a:lnSpc>
                <a:spcPct val="114999"/>
              </a:lnSpc>
              <a:spcAft>
                <a:spcPts val="800"/>
              </a:spcAft>
              <a:buSzPts val="1000"/>
              <a:buFont typeface="Courier New" panose="02070309020205020404" pitchFamily="49" charset="0"/>
              <a:buChar char="o"/>
              <a:tabLst>
                <a:tab pos="914400" algn="l"/>
              </a:tabLst>
            </a:pPr>
            <a:endParaRPr lang="en-IN" dirty="0">
              <a:effectLst/>
              <a:latin typeface="Times New Roman"/>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endParaRPr lang="en-IN" sz="1200" kern="100" dirty="0">
              <a:latin typeface="Aptos" panose="020B0004020202020204" pitchFamily="34" charset="0"/>
              <a:ea typeface="Aptos" panose="020B0004020202020204" pitchFamily="34" charset="0"/>
              <a:cs typeface="Times New Roman" panose="02020603050405020304" pitchFamily="18" charset="0"/>
            </a:endParaRPr>
          </a:p>
          <a:p>
            <a:pPr marL="88900" indent="0">
              <a:buNone/>
              <a:tabLst>
                <a:tab pos="914400" algn="l"/>
              </a:tabLst>
            </a:pPr>
            <a:endParaRPr lang="en-US" sz="2000" dirty="0">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944027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3C5A-67AF-58D7-67F8-1C103CEB528F}"/>
              </a:ext>
            </a:extLst>
          </p:cNvPr>
          <p:cNvSpPr>
            <a:spLocks noGrp="1"/>
          </p:cNvSpPr>
          <p:nvPr>
            <p:ph type="title"/>
          </p:nvPr>
        </p:nvSpPr>
        <p:spPr>
          <a:xfrm>
            <a:off x="311700" y="593367"/>
            <a:ext cx="8520600" cy="254893"/>
          </a:xfrm>
        </p:spPr>
        <p:txBody>
          <a:bodyPr/>
          <a:lstStyle/>
          <a:p>
            <a:endParaRPr lang="en-US" sz="2400" dirty="0">
              <a:latin typeface="Times New Roman"/>
            </a:endParaRPr>
          </a:p>
        </p:txBody>
      </p:sp>
      <p:sp>
        <p:nvSpPr>
          <p:cNvPr id="3" name="Text Placeholder 2">
            <a:extLst>
              <a:ext uri="{FF2B5EF4-FFF2-40B4-BE49-F238E27FC236}">
                <a16:creationId xmlns:a16="http://schemas.microsoft.com/office/drawing/2014/main" id="{51C64CA1-2E64-A1AA-FFBC-379789751F71}"/>
              </a:ext>
            </a:extLst>
          </p:cNvPr>
          <p:cNvSpPr>
            <a:spLocks noGrp="1"/>
          </p:cNvSpPr>
          <p:nvPr>
            <p:ph type="body" idx="1"/>
          </p:nvPr>
        </p:nvSpPr>
        <p:spPr>
          <a:xfrm>
            <a:off x="311700" y="945992"/>
            <a:ext cx="8520600" cy="4555200"/>
          </a:xfrm>
        </p:spPr>
        <p:txBody>
          <a:bodyPr/>
          <a:lstStyle/>
          <a:p>
            <a:pPr marL="88900" indent="0">
              <a:lnSpc>
                <a:spcPct val="150000"/>
              </a:lnSpc>
              <a:buNone/>
            </a:pPr>
            <a:r>
              <a:rPr lang="en-IN" sz="1600" b="1" dirty="0">
                <a:latin typeface="Times New Roman"/>
              </a:rPr>
              <a:t>Paper –02 : </a:t>
            </a:r>
            <a:r>
              <a:rPr lang="en-IN" sz="1600" dirty="0">
                <a:latin typeface="Times New Roman"/>
              </a:rPr>
              <a:t>"A </a:t>
            </a:r>
            <a:r>
              <a:rPr lang="en-IN" sz="1600" err="1">
                <a:latin typeface="Times New Roman"/>
              </a:rPr>
              <a:t>Spatio</a:t>
            </a:r>
            <a:r>
              <a:rPr lang="en-IN" sz="1600" dirty="0">
                <a:latin typeface="Times New Roman"/>
              </a:rPr>
              <a:t>-Temporal Graph Neural Network Approach for Traffic Flow Prediction"</a:t>
            </a:r>
            <a:endParaRPr lang="en-US" dirty="0"/>
          </a:p>
          <a:p>
            <a:pPr>
              <a:lnSpc>
                <a:spcPct val="150000"/>
              </a:lnSpc>
            </a:pPr>
            <a:r>
              <a:rPr lang="en-IN" sz="1600" dirty="0">
                <a:latin typeface="Times New Roman"/>
              </a:rPr>
              <a:t>This research addresses the challenge of short-term traffic flow prediction, a critical component in developing smart cities. We propose a dynamic-aware graph neural network model that integrates spatial and temporal features to uncover hidden relationships in traffic data.</a:t>
            </a:r>
            <a:endParaRPr lang="en-IN" sz="1600" dirty="0">
              <a:effectLst/>
              <a:latin typeface="Times New Roman"/>
            </a:endParaRPr>
          </a:p>
          <a:p>
            <a:pPr marL="88900" indent="0">
              <a:lnSpc>
                <a:spcPct val="150000"/>
              </a:lnSpc>
              <a:buNone/>
              <a:tabLst>
                <a:tab pos="914400" algn="l"/>
              </a:tabLst>
            </a:pPr>
            <a:r>
              <a:rPr lang="en-IN" sz="1600" dirty="0">
                <a:latin typeface="Times New Roman"/>
                <a:cs typeface="Times New Roman"/>
              </a:rPr>
              <a:t>Research Gap:</a:t>
            </a:r>
          </a:p>
          <a:p>
            <a:pPr>
              <a:lnSpc>
                <a:spcPct val="150000"/>
              </a:lnSpc>
              <a:tabLst>
                <a:tab pos="914400" algn="l"/>
              </a:tabLst>
            </a:pPr>
            <a:r>
              <a:rPr lang="en-US" sz="1600" dirty="0">
                <a:latin typeface="Times New Roman"/>
                <a:cs typeface="Times New Roman"/>
              </a:rPr>
              <a:t>Heterogeneous Traffic factors(like road closures, road accidents..)</a:t>
            </a:r>
          </a:p>
          <a:p>
            <a:pPr>
              <a:lnSpc>
                <a:spcPct val="150000"/>
              </a:lnSpc>
              <a:tabLst>
                <a:tab pos="914400" algn="l"/>
              </a:tabLst>
            </a:pPr>
            <a:r>
              <a:rPr lang="en-US" sz="1600" dirty="0">
                <a:latin typeface="Times New Roman"/>
                <a:cs typeface="Times New Roman"/>
              </a:rPr>
              <a:t>Limited to Short-Term Predictions</a:t>
            </a:r>
          </a:p>
          <a:p>
            <a:pPr>
              <a:lnSpc>
                <a:spcPct val="150000"/>
              </a:lnSpc>
              <a:tabLst>
                <a:tab pos="914400" algn="l"/>
              </a:tabLst>
            </a:pPr>
            <a:r>
              <a:rPr lang="en-US" sz="1600" dirty="0">
                <a:latin typeface="Times New Roman"/>
                <a:cs typeface="Times New Roman"/>
              </a:rPr>
              <a:t>No Actionable Traffic Management Solutions</a:t>
            </a:r>
          </a:p>
          <a:p>
            <a:pPr marL="742950" lvl="1" indent="-285750">
              <a:lnSpc>
                <a:spcPct val="114999"/>
              </a:lnSpc>
              <a:spcAft>
                <a:spcPts val="800"/>
              </a:spcAft>
              <a:buSzPts val="1000"/>
              <a:buFont typeface="Courier New" panose="02070309020205020404" pitchFamily="49" charset="0"/>
              <a:buChar char="o"/>
              <a:tabLst>
                <a:tab pos="914400" algn="l"/>
              </a:tabLst>
            </a:pPr>
            <a:endParaRPr lang="en-IN" dirty="0">
              <a:effectLst/>
              <a:latin typeface="Times New Roman"/>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endParaRPr lang="en-IN" sz="1200" kern="100" dirty="0">
              <a:latin typeface="Aptos" panose="020B0004020202020204" pitchFamily="34" charset="0"/>
              <a:ea typeface="Aptos" panose="020B0004020202020204" pitchFamily="34" charset="0"/>
              <a:cs typeface="Times New Roman" panose="02020603050405020304" pitchFamily="18" charset="0"/>
            </a:endParaRPr>
          </a:p>
          <a:p>
            <a:pPr marL="88900" indent="0">
              <a:buNone/>
              <a:tabLst>
                <a:tab pos="914400" algn="l"/>
              </a:tabLst>
            </a:pPr>
            <a:endParaRPr lang="en-US" sz="2000" dirty="0">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34596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3C5A-67AF-58D7-67F8-1C103CEB528F}"/>
              </a:ext>
            </a:extLst>
          </p:cNvPr>
          <p:cNvSpPr>
            <a:spLocks noGrp="1"/>
          </p:cNvSpPr>
          <p:nvPr>
            <p:ph type="title"/>
          </p:nvPr>
        </p:nvSpPr>
        <p:spPr>
          <a:xfrm>
            <a:off x="311700" y="593367"/>
            <a:ext cx="8520600" cy="254893"/>
          </a:xfrm>
        </p:spPr>
        <p:txBody>
          <a:bodyPr/>
          <a:lstStyle/>
          <a:p>
            <a:endParaRPr lang="en-US" sz="2400" dirty="0">
              <a:latin typeface="Times New Roman"/>
            </a:endParaRPr>
          </a:p>
        </p:txBody>
      </p:sp>
      <p:sp>
        <p:nvSpPr>
          <p:cNvPr id="3" name="Text Placeholder 2">
            <a:extLst>
              <a:ext uri="{FF2B5EF4-FFF2-40B4-BE49-F238E27FC236}">
                <a16:creationId xmlns:a16="http://schemas.microsoft.com/office/drawing/2014/main" id="{51C64CA1-2E64-A1AA-FFBC-379789751F71}"/>
              </a:ext>
            </a:extLst>
          </p:cNvPr>
          <p:cNvSpPr>
            <a:spLocks noGrp="1"/>
          </p:cNvSpPr>
          <p:nvPr>
            <p:ph type="body" idx="1"/>
          </p:nvPr>
        </p:nvSpPr>
        <p:spPr>
          <a:xfrm>
            <a:off x="311700" y="945992"/>
            <a:ext cx="8520600" cy="5282563"/>
          </a:xfrm>
        </p:spPr>
        <p:txBody>
          <a:bodyPr/>
          <a:lstStyle/>
          <a:p>
            <a:pPr marL="88900" indent="0">
              <a:lnSpc>
                <a:spcPct val="150000"/>
              </a:lnSpc>
              <a:buNone/>
            </a:pPr>
            <a:r>
              <a:rPr lang="en-IN" sz="1600" b="1" dirty="0">
                <a:latin typeface="Times New Roman"/>
              </a:rPr>
              <a:t>Paper –03 : </a:t>
            </a:r>
            <a:r>
              <a:rPr lang="en-IN" sz="1600" dirty="0">
                <a:latin typeface="Times New Roman"/>
              </a:rPr>
              <a:t>"</a:t>
            </a:r>
            <a:r>
              <a:rPr lang="en-US" sz="1600" b="1" dirty="0">
                <a:latin typeface="Times New Roman"/>
              </a:rPr>
              <a:t>Traffic Flow Prediction with Heterogenous Data Using a Hybrid CNN-LSTM Model</a:t>
            </a:r>
            <a:r>
              <a:rPr lang="en-IN" sz="1600" dirty="0">
                <a:latin typeface="Times New Roman"/>
              </a:rPr>
              <a:t>"</a:t>
            </a:r>
            <a:endParaRPr lang="en-US" sz="1600">
              <a:latin typeface="Times New Roman"/>
            </a:endParaRPr>
          </a:p>
          <a:p>
            <a:pPr>
              <a:lnSpc>
                <a:spcPct val="150000"/>
              </a:lnSpc>
            </a:pPr>
            <a:r>
              <a:rPr lang="en-IN" sz="1600" dirty="0">
                <a:latin typeface="Times New Roman"/>
              </a:rPr>
              <a:t>This study tackles the challenge of </a:t>
            </a:r>
            <a:r>
              <a:rPr lang="en-IN" sz="1600" b="1" dirty="0">
                <a:latin typeface="Times New Roman"/>
              </a:rPr>
              <a:t>t</a:t>
            </a:r>
            <a:r>
              <a:rPr lang="en-IN" sz="1600" dirty="0">
                <a:latin typeface="Times New Roman"/>
              </a:rPr>
              <a:t>raffic flow prediction by addressing the limitations in current methods, which often fail to incorporate external factors and spatiotemporal</a:t>
            </a:r>
            <a:r>
              <a:rPr lang="en-IN" sz="1600" b="1" dirty="0">
                <a:latin typeface="Times New Roman"/>
              </a:rPr>
              <a:t> </a:t>
            </a:r>
            <a:r>
              <a:rPr lang="en-IN" sz="1600" dirty="0">
                <a:latin typeface="Times New Roman"/>
              </a:rPr>
              <a:t>correlations. The proposed model leverages CNN layers for extracting valuable information and LSTM layers for identifying short- and long-term dependencies. By incorporating features like vehicle type, holidays, and weather, the model improves prediction accuracy. The research demonstrates that integrating these factors enhances forecast performance, with improvements of up to 25.85%</a:t>
            </a:r>
            <a:r>
              <a:rPr lang="en-IN" sz="1600" b="1" dirty="0">
                <a:latin typeface="Times New Roman"/>
              </a:rPr>
              <a:t> </a:t>
            </a:r>
            <a:r>
              <a:rPr lang="en-IN" sz="1600" dirty="0">
                <a:latin typeface="Times New Roman"/>
              </a:rPr>
              <a:t>for weather, 23.70% for vehicle types, and 14.02% for holidays.</a:t>
            </a:r>
            <a:endParaRPr lang="en-IN" sz="1600" dirty="0">
              <a:effectLst/>
              <a:latin typeface="Times New Roman"/>
            </a:endParaRPr>
          </a:p>
          <a:p>
            <a:pPr marL="88900" indent="0">
              <a:lnSpc>
                <a:spcPct val="150000"/>
              </a:lnSpc>
              <a:buNone/>
              <a:tabLst>
                <a:tab pos="914400" algn="l"/>
              </a:tabLst>
            </a:pPr>
            <a:r>
              <a:rPr lang="en-IN" sz="1600" dirty="0">
                <a:latin typeface="Times New Roman"/>
                <a:cs typeface="Times New Roman"/>
              </a:rPr>
              <a:t>Research Gap:</a:t>
            </a:r>
          </a:p>
          <a:p>
            <a:pPr>
              <a:lnSpc>
                <a:spcPct val="150000"/>
              </a:lnSpc>
              <a:tabLst>
                <a:tab pos="914400" algn="l"/>
              </a:tabLst>
            </a:pPr>
            <a:r>
              <a:rPr lang="en-US" sz="1600" dirty="0">
                <a:latin typeface="Times New Roman"/>
                <a:cs typeface="Times New Roman"/>
              </a:rPr>
              <a:t>Heterogeneous Traffic factors(like road closures, road accidents..)</a:t>
            </a:r>
          </a:p>
          <a:p>
            <a:pPr>
              <a:lnSpc>
                <a:spcPct val="150000"/>
              </a:lnSpc>
              <a:tabLst>
                <a:tab pos="914400" algn="l"/>
              </a:tabLst>
            </a:pPr>
            <a:r>
              <a:rPr lang="en-US" sz="1600" dirty="0">
                <a:latin typeface="Times New Roman"/>
                <a:cs typeface="Times New Roman"/>
              </a:rPr>
              <a:t>No Prescriptive Traffic Management Solutions:</a:t>
            </a:r>
          </a:p>
          <a:p>
            <a:pPr marL="742950" lvl="1" indent="-285750">
              <a:lnSpc>
                <a:spcPct val="114999"/>
              </a:lnSpc>
              <a:spcAft>
                <a:spcPts val="800"/>
              </a:spcAft>
              <a:buSzPts val="1000"/>
              <a:buFont typeface="Courier New" panose="02070309020205020404" pitchFamily="49" charset="0"/>
              <a:buChar char="o"/>
              <a:tabLst>
                <a:tab pos="914400" algn="l"/>
              </a:tabLst>
            </a:pPr>
            <a:endParaRPr lang="en-IN" dirty="0">
              <a:effectLst/>
              <a:latin typeface="Times New Roman"/>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endParaRPr lang="en-IN" sz="1200" kern="100" dirty="0">
              <a:latin typeface="Aptos" panose="020B0004020202020204" pitchFamily="34" charset="0"/>
              <a:ea typeface="Aptos" panose="020B0004020202020204" pitchFamily="34" charset="0"/>
              <a:cs typeface="Times New Roman" panose="02020603050405020304" pitchFamily="18" charset="0"/>
            </a:endParaRPr>
          </a:p>
          <a:p>
            <a:pPr marL="88900" indent="0">
              <a:buNone/>
              <a:tabLst>
                <a:tab pos="914400" algn="l"/>
              </a:tabLst>
            </a:pPr>
            <a:endParaRPr lang="en-US" sz="2000" dirty="0">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437345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3C5A-67AF-58D7-67F8-1C103CEB528F}"/>
              </a:ext>
            </a:extLst>
          </p:cNvPr>
          <p:cNvSpPr>
            <a:spLocks noGrp="1"/>
          </p:cNvSpPr>
          <p:nvPr>
            <p:ph type="title"/>
          </p:nvPr>
        </p:nvSpPr>
        <p:spPr>
          <a:xfrm>
            <a:off x="311700" y="593367"/>
            <a:ext cx="8520600" cy="254893"/>
          </a:xfrm>
        </p:spPr>
        <p:txBody>
          <a:bodyPr/>
          <a:lstStyle/>
          <a:p>
            <a:endParaRPr lang="en-US" sz="2400" dirty="0">
              <a:latin typeface="Times New Roman"/>
            </a:endParaRPr>
          </a:p>
        </p:txBody>
      </p:sp>
      <p:sp>
        <p:nvSpPr>
          <p:cNvPr id="3" name="Text Placeholder 2">
            <a:extLst>
              <a:ext uri="{FF2B5EF4-FFF2-40B4-BE49-F238E27FC236}">
                <a16:creationId xmlns:a16="http://schemas.microsoft.com/office/drawing/2014/main" id="{51C64CA1-2E64-A1AA-FFBC-379789751F71}"/>
              </a:ext>
            </a:extLst>
          </p:cNvPr>
          <p:cNvSpPr>
            <a:spLocks noGrp="1"/>
          </p:cNvSpPr>
          <p:nvPr>
            <p:ph type="body" idx="1"/>
          </p:nvPr>
        </p:nvSpPr>
        <p:spPr>
          <a:xfrm>
            <a:off x="311700" y="945992"/>
            <a:ext cx="8520600" cy="5282563"/>
          </a:xfrm>
        </p:spPr>
        <p:txBody>
          <a:bodyPr/>
          <a:lstStyle/>
          <a:p>
            <a:pPr marL="88900" indent="0">
              <a:lnSpc>
                <a:spcPct val="150000"/>
              </a:lnSpc>
              <a:buNone/>
            </a:pPr>
            <a:r>
              <a:rPr lang="en-IN" sz="1600" b="1" dirty="0">
                <a:latin typeface="Times New Roman"/>
              </a:rPr>
              <a:t>Paper –04 : </a:t>
            </a:r>
            <a:r>
              <a:rPr lang="en-IN" sz="1600" dirty="0">
                <a:latin typeface="Times New Roman"/>
              </a:rPr>
              <a:t>"</a:t>
            </a:r>
            <a:r>
              <a:rPr lang="en-US" sz="1600" dirty="0">
                <a:latin typeface="Times New Roman"/>
                <a:cs typeface="Times New Roman"/>
              </a:rPr>
              <a:t>Integrating knowledge representation into traffic prediction: A spatial- temporal graph neural network with adaptive fusion features</a:t>
            </a:r>
            <a:r>
              <a:rPr lang="en-IN" sz="1600" dirty="0">
                <a:latin typeface="Times New Roman"/>
              </a:rPr>
              <a:t>"</a:t>
            </a:r>
            <a:endParaRPr lang="en-US" sz="1600" dirty="0">
              <a:latin typeface="Times New Roman"/>
            </a:endParaRPr>
          </a:p>
          <a:p>
            <a:pPr algn="just">
              <a:lnSpc>
                <a:spcPct val="150000"/>
              </a:lnSpc>
              <a:buSzPts val="2200"/>
            </a:pPr>
            <a:r>
              <a:rPr lang="en-IN" sz="1600" dirty="0">
                <a:latin typeface="Times New Roman"/>
                <a:cs typeface="Times New Roman"/>
              </a:rPr>
              <a:t>Urban traffic congestion significantly impacts road safety, often leading to higher accident rates</a:t>
            </a:r>
            <a:r>
              <a:rPr lang="en-IN" sz="1600" dirty="0">
                <a:latin typeface="Times New Roman"/>
              </a:rPr>
              <a:t>.</a:t>
            </a:r>
            <a:r>
              <a:rPr lang="en-US" sz="1600" dirty="0">
                <a:latin typeface="Times New Roman"/>
                <a:cs typeface="Times New Roman"/>
              </a:rPr>
              <a:t>Existing models often overlook the interconnected between road segments and intersections in urban road networks. We propose a </a:t>
            </a:r>
            <a:r>
              <a:rPr lang="en-US" sz="1600" b="1" dirty="0">
                <a:latin typeface="Times New Roman"/>
                <a:cs typeface="Times New Roman"/>
              </a:rPr>
              <a:t>s</a:t>
            </a:r>
            <a:r>
              <a:rPr lang="en-US" sz="1600" dirty="0">
                <a:latin typeface="Times New Roman"/>
                <a:cs typeface="Times New Roman"/>
              </a:rPr>
              <a:t>patial-temporal graph neural network</a:t>
            </a:r>
            <a:r>
              <a:rPr lang="en-US" sz="1600" b="1" dirty="0">
                <a:latin typeface="Times New Roman"/>
                <a:cs typeface="Times New Roman"/>
              </a:rPr>
              <a:t> </a:t>
            </a:r>
            <a:r>
              <a:rPr lang="en-US" sz="1600" dirty="0">
                <a:latin typeface="Times New Roman"/>
                <a:cs typeface="Times New Roman"/>
              </a:rPr>
              <a:t>(ST-GNN) that captures spatial-temporal dependencies and updates predictions dynamically with real-time traffic </a:t>
            </a:r>
            <a:r>
              <a:rPr lang="en-US" sz="1600" err="1">
                <a:latin typeface="Times New Roman"/>
                <a:cs typeface="Times New Roman"/>
              </a:rPr>
              <a:t>data.The</a:t>
            </a:r>
            <a:r>
              <a:rPr lang="en-US" sz="1600" dirty="0">
                <a:latin typeface="Times New Roman"/>
                <a:cs typeface="Times New Roman"/>
              </a:rPr>
              <a:t> ST-GNN outperforms traditional models in predicting traffic accidents. Results show that combining real-time traffic conditions with spatial-temporal</a:t>
            </a:r>
            <a:r>
              <a:rPr lang="en-US" sz="1600" b="1" dirty="0">
                <a:latin typeface="Times New Roman"/>
                <a:cs typeface="Times New Roman"/>
              </a:rPr>
              <a:t> features</a:t>
            </a:r>
            <a:r>
              <a:rPr lang="en-US" sz="1600" dirty="0">
                <a:latin typeface="Times New Roman"/>
                <a:cs typeface="Times New Roman"/>
              </a:rPr>
              <a:t> enhances accident prediction and provides actionable insights for traffic management.</a:t>
            </a:r>
            <a:endParaRPr lang="en-US" sz="1600"/>
          </a:p>
          <a:p>
            <a:pPr>
              <a:lnSpc>
                <a:spcPct val="150000"/>
              </a:lnSpc>
            </a:pPr>
            <a:endParaRPr lang="en-US" sz="1200" dirty="0">
              <a:effectLst/>
              <a:latin typeface="Times New Roman"/>
              <a:cs typeface="Times New Roman"/>
            </a:endParaRPr>
          </a:p>
          <a:p>
            <a:pPr marL="88900" indent="0">
              <a:lnSpc>
                <a:spcPct val="150000"/>
              </a:lnSpc>
              <a:buNone/>
              <a:tabLst>
                <a:tab pos="914400" algn="l"/>
              </a:tabLst>
            </a:pPr>
            <a:r>
              <a:rPr lang="en-IN" sz="1600" dirty="0">
                <a:latin typeface="Times New Roman"/>
                <a:cs typeface="Times New Roman"/>
              </a:rPr>
              <a:t>Research Gap:</a:t>
            </a:r>
          </a:p>
          <a:p>
            <a:pPr algn="just">
              <a:lnSpc>
                <a:spcPct val="150000"/>
              </a:lnSpc>
              <a:tabLst>
                <a:tab pos="914400" algn="l"/>
              </a:tabLst>
            </a:pPr>
            <a:r>
              <a:rPr lang="en-US" sz="1600" dirty="0">
                <a:latin typeface="Times New Roman"/>
                <a:cs typeface="Times New Roman"/>
              </a:rPr>
              <a:t>Real-time integration of traffic incidents and accidents is still missing in many models.</a:t>
            </a:r>
          </a:p>
          <a:p>
            <a:pPr algn="just">
              <a:lnSpc>
                <a:spcPct val="150000"/>
              </a:lnSpc>
              <a:tabLst>
                <a:tab pos="914400" algn="l"/>
              </a:tabLst>
            </a:pPr>
            <a:r>
              <a:rPr lang="en-US" sz="1600" dirty="0">
                <a:latin typeface="Times New Roman"/>
                <a:cs typeface="Times New Roman"/>
              </a:rPr>
              <a:t>Accident prediction has not been thoroughly explored, even though it's crucial for urban traffic safety.</a:t>
            </a:r>
          </a:p>
          <a:p>
            <a:pPr>
              <a:lnSpc>
                <a:spcPct val="150000"/>
              </a:lnSpc>
              <a:tabLst>
                <a:tab pos="914400" algn="l"/>
              </a:tabLst>
            </a:pPr>
            <a:endParaRPr lang="en-US" sz="1600" dirty="0">
              <a:latin typeface="Times New Roman"/>
              <a:cs typeface="Times New Roman"/>
            </a:endParaRPr>
          </a:p>
          <a:p>
            <a:pPr marL="742950" lvl="1" indent="-285750">
              <a:lnSpc>
                <a:spcPct val="114999"/>
              </a:lnSpc>
              <a:spcAft>
                <a:spcPts val="800"/>
              </a:spcAft>
              <a:buSzPts val="1000"/>
              <a:buFont typeface="Courier New" panose="02070309020205020404" pitchFamily="49" charset="0"/>
              <a:buChar char="o"/>
              <a:tabLst>
                <a:tab pos="914400" algn="l"/>
              </a:tabLst>
            </a:pPr>
            <a:endParaRPr lang="en-IN" dirty="0">
              <a:effectLst/>
              <a:latin typeface="Times New Roman"/>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endParaRPr lang="en-IN" sz="1200" kern="100" dirty="0">
              <a:latin typeface="Aptos" panose="020B0004020202020204" pitchFamily="34" charset="0"/>
              <a:ea typeface="Aptos" panose="020B0004020202020204" pitchFamily="34" charset="0"/>
              <a:cs typeface="Times New Roman" panose="02020603050405020304" pitchFamily="18" charset="0"/>
            </a:endParaRPr>
          </a:p>
          <a:p>
            <a:pPr marL="88900" indent="0">
              <a:buNone/>
              <a:tabLst>
                <a:tab pos="914400" algn="l"/>
              </a:tabLst>
            </a:pPr>
            <a:endParaRPr lang="en-US" sz="2000" dirty="0">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101106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0CBB9-AAAB-924D-63EC-6F2B4408A93C}"/>
              </a:ext>
            </a:extLst>
          </p:cNvPr>
          <p:cNvSpPr>
            <a:spLocks noGrp="1"/>
          </p:cNvSpPr>
          <p:nvPr>
            <p:ph type="title"/>
          </p:nvPr>
        </p:nvSpPr>
        <p:spPr/>
        <p:txBody>
          <a:bodyPr/>
          <a:lstStyle/>
          <a:p>
            <a:r>
              <a:rPr lang="en-US" dirty="0"/>
              <a:t>Research Problem</a:t>
            </a:r>
          </a:p>
        </p:txBody>
      </p:sp>
      <p:sp>
        <p:nvSpPr>
          <p:cNvPr id="3" name="Text Placeholder 2">
            <a:extLst>
              <a:ext uri="{FF2B5EF4-FFF2-40B4-BE49-F238E27FC236}">
                <a16:creationId xmlns:a16="http://schemas.microsoft.com/office/drawing/2014/main" id="{ABDC5FAA-D0DC-4643-5D97-3EDF821D9A99}"/>
              </a:ext>
            </a:extLst>
          </p:cNvPr>
          <p:cNvSpPr>
            <a:spLocks noGrp="1"/>
          </p:cNvSpPr>
          <p:nvPr>
            <p:ph type="body" idx="1"/>
          </p:nvPr>
        </p:nvSpPr>
        <p:spPr/>
        <p:txBody>
          <a:bodyPr/>
          <a:lstStyle/>
          <a:p>
            <a:pPr>
              <a:lnSpc>
                <a:spcPct val="150000"/>
              </a:lnSpc>
            </a:pPr>
            <a:r>
              <a:rPr lang="en-US" sz="1600" dirty="0">
                <a:latin typeface="Times New Roman"/>
                <a:cs typeface="Times New Roman"/>
              </a:rPr>
              <a:t>How can we improve traffic flow prediction in urban road networks by integrating dynamic factors (e.g., accidents, road closures) and modeling the spatial-temporal dependencies between road segments and intersections, while providing actionable solutions for traffic management such as rerouting or signal optimization?</a:t>
            </a:r>
            <a:endParaRPr lang="en-US" sz="1600" dirty="0"/>
          </a:p>
        </p:txBody>
      </p:sp>
    </p:spTree>
    <p:extLst>
      <p:ext uri="{BB962C8B-B14F-4D97-AF65-F5344CB8AC3E}">
        <p14:creationId xmlns:p14="http://schemas.microsoft.com/office/powerpoint/2010/main" val="3970129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C33B0-9C66-277A-96CB-42AD26496CA6}"/>
              </a:ext>
            </a:extLst>
          </p:cNvPr>
          <p:cNvSpPr>
            <a:spLocks noGrp="1"/>
          </p:cNvSpPr>
          <p:nvPr>
            <p:ph type="title"/>
          </p:nvPr>
        </p:nvSpPr>
        <p:spPr/>
        <p:txBody>
          <a:bodyPr/>
          <a:lstStyle/>
          <a:p>
            <a:r>
              <a:rPr lang="en-US" dirty="0"/>
              <a:t>Research objective </a:t>
            </a:r>
          </a:p>
        </p:txBody>
      </p:sp>
      <p:sp>
        <p:nvSpPr>
          <p:cNvPr id="3" name="Text Placeholder 2">
            <a:extLst>
              <a:ext uri="{FF2B5EF4-FFF2-40B4-BE49-F238E27FC236}">
                <a16:creationId xmlns:a16="http://schemas.microsoft.com/office/drawing/2014/main" id="{46B81828-A80E-B8B8-94FC-B3C63A5E903C}"/>
              </a:ext>
            </a:extLst>
          </p:cNvPr>
          <p:cNvSpPr>
            <a:spLocks noGrp="1"/>
          </p:cNvSpPr>
          <p:nvPr>
            <p:ph type="body" idx="1"/>
          </p:nvPr>
        </p:nvSpPr>
        <p:spPr/>
        <p:txBody>
          <a:bodyPr/>
          <a:lstStyle/>
          <a:p>
            <a:pPr algn="just">
              <a:lnSpc>
                <a:spcPct val="150000"/>
              </a:lnSpc>
              <a:buAutoNum type="arabicPeriod"/>
            </a:pPr>
            <a:r>
              <a:rPr lang="en-US" sz="1600">
                <a:latin typeface="Times New Roman"/>
                <a:cs typeface="Times New Roman"/>
              </a:rPr>
              <a:t>To analyze and predict traffic flow in urban environments by utilizing heterogeneous traffic data, including real-time factors such as accidents and road closures.</a:t>
            </a:r>
            <a:endParaRPr lang="en-US"/>
          </a:p>
          <a:p>
            <a:pPr algn="just">
              <a:lnSpc>
                <a:spcPct val="150000"/>
              </a:lnSpc>
              <a:buAutoNum type="arabicPeriod"/>
            </a:pPr>
            <a:r>
              <a:rPr lang="en-US" sz="1600">
                <a:latin typeface="Times New Roman"/>
                <a:cs typeface="Times New Roman"/>
              </a:rPr>
              <a:t>To develop a machine learning-based framework for accurate traffic prediction that supports both short-term and long-term forecasting.</a:t>
            </a:r>
          </a:p>
          <a:p>
            <a:pPr algn="just">
              <a:lnSpc>
                <a:spcPct val="150000"/>
              </a:lnSpc>
              <a:buAutoNum type="arabicPeriod"/>
            </a:pPr>
            <a:r>
              <a:rPr lang="en-US" sz="1600">
                <a:latin typeface="Times New Roman"/>
                <a:cs typeface="Times New Roman"/>
              </a:rPr>
              <a:t>To propose strategies for improving traffic flow and reducing congestion, with a focus on optimizing overall urban traffic management.</a:t>
            </a:r>
            <a:endParaRPr lang="en-IN" sz="1600">
              <a:latin typeface="Times New Roman"/>
              <a:cs typeface="Times New Roman"/>
            </a:endParaRPr>
          </a:p>
          <a:p>
            <a:pPr marL="431800" indent="-342900" algn="just">
              <a:lnSpc>
                <a:spcPct val="150000"/>
              </a:lnSpc>
              <a:buAutoNum type="arabicPeriod"/>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7044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6F485-F785-267A-7E75-BA8E711A80FE}"/>
              </a:ext>
            </a:extLst>
          </p:cNvPr>
          <p:cNvSpPr>
            <a:spLocks noGrp="1"/>
          </p:cNvSpPr>
          <p:nvPr>
            <p:ph type="title"/>
          </p:nvPr>
        </p:nvSpPr>
        <p:spPr/>
        <p:txBody>
          <a:bodyPr/>
          <a:lstStyle/>
          <a:p>
            <a:r>
              <a:rPr lang="en-US" dirty="0"/>
              <a:t>Research Methodology </a:t>
            </a:r>
          </a:p>
        </p:txBody>
      </p:sp>
      <p:sp>
        <p:nvSpPr>
          <p:cNvPr id="3" name="Text Placeholder 2">
            <a:extLst>
              <a:ext uri="{FF2B5EF4-FFF2-40B4-BE49-F238E27FC236}">
                <a16:creationId xmlns:a16="http://schemas.microsoft.com/office/drawing/2014/main" id="{8B61FB9C-8CD6-24FF-1F93-E02D1FD919E1}"/>
              </a:ext>
            </a:extLst>
          </p:cNvPr>
          <p:cNvSpPr>
            <a:spLocks noGrp="1"/>
          </p:cNvSpPr>
          <p:nvPr>
            <p:ph type="body" idx="1"/>
          </p:nvPr>
        </p:nvSpPr>
        <p:spPr/>
        <p:txBody>
          <a:bodyPr/>
          <a:lstStyle/>
          <a:p>
            <a:pPr algn="just">
              <a:lnSpc>
                <a:spcPct val="150000"/>
              </a:lnSpc>
            </a:pPr>
            <a:r>
              <a:rPr lang="en-US" sz="1600" dirty="0">
                <a:latin typeface="Times New Roman"/>
              </a:rPr>
              <a:t>Data collection : Heterogenous traffic data (traffic volume on specific road segments, Vehicle counts, Accident records, road conditions)</a:t>
            </a:r>
          </a:p>
          <a:p>
            <a:pPr algn="just">
              <a:lnSpc>
                <a:spcPct val="150000"/>
              </a:lnSpc>
            </a:pPr>
            <a:r>
              <a:rPr lang="en-US" sz="1600" dirty="0">
                <a:latin typeface="Times New Roman"/>
                <a:cs typeface="Times New Roman"/>
              </a:rPr>
              <a:t>Data Preprocessing: Cleaning and preparation</a:t>
            </a:r>
          </a:p>
          <a:p>
            <a:pPr algn="just">
              <a:lnSpc>
                <a:spcPct val="150000"/>
              </a:lnSpc>
            </a:pPr>
            <a:r>
              <a:rPr lang="en-US" sz="1600" dirty="0">
                <a:latin typeface="Times New Roman"/>
                <a:cs typeface="Times New Roman"/>
              </a:rPr>
              <a:t>Modeling Approach:  Machine learning algorithms ,</a:t>
            </a:r>
            <a:r>
              <a:rPr lang="en-US" sz="1600" err="1">
                <a:latin typeface="Times New Roman"/>
                <a:cs typeface="Times New Roman"/>
              </a:rPr>
              <a:t>Traning</a:t>
            </a:r>
            <a:r>
              <a:rPr lang="en-US" sz="1600" dirty="0">
                <a:latin typeface="Times New Roman"/>
                <a:cs typeface="Times New Roman"/>
              </a:rPr>
              <a:t> and validation </a:t>
            </a:r>
          </a:p>
          <a:p>
            <a:pPr algn="just">
              <a:lnSpc>
                <a:spcPct val="150000"/>
              </a:lnSpc>
            </a:pPr>
            <a:r>
              <a:rPr lang="en-US" sz="1600" dirty="0">
                <a:latin typeface="Times New Roman"/>
                <a:cs typeface="Times New Roman"/>
              </a:rPr>
              <a:t>Analysis Techniques : Performance metrics</a:t>
            </a:r>
          </a:p>
          <a:p>
            <a:pPr algn="just">
              <a:lnSpc>
                <a:spcPct val="150000"/>
              </a:lnSpc>
            </a:pPr>
            <a:r>
              <a:rPr lang="en-US" sz="1600" dirty="0">
                <a:latin typeface="Times New Roman"/>
                <a:cs typeface="Times New Roman"/>
              </a:rPr>
              <a:t>Proposing solutions.</a:t>
            </a:r>
          </a:p>
          <a:p>
            <a:pPr marL="88900" indent="0">
              <a:buNone/>
            </a:pPr>
            <a:endParaRPr lang="en-US" dirty="0">
              <a:cs typeface="Times New Roman"/>
            </a:endParaRPr>
          </a:p>
        </p:txBody>
      </p:sp>
    </p:spTree>
    <p:extLst>
      <p:ext uri="{BB962C8B-B14F-4D97-AF65-F5344CB8AC3E}">
        <p14:creationId xmlns:p14="http://schemas.microsoft.com/office/powerpoint/2010/main" val="4283884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1CC4C-5A84-4669-F4F1-E18525B412B8}"/>
              </a:ext>
            </a:extLst>
          </p:cNvPr>
          <p:cNvSpPr>
            <a:spLocks noGrp="1"/>
          </p:cNvSpPr>
          <p:nvPr>
            <p:ph type="title"/>
          </p:nvPr>
        </p:nvSpPr>
        <p:spPr/>
        <p:txBody>
          <a:bodyPr/>
          <a:lstStyle/>
          <a:p>
            <a:r>
              <a:rPr lang="en-US" dirty="0"/>
              <a:t>Expected outcomes</a:t>
            </a:r>
          </a:p>
        </p:txBody>
      </p:sp>
      <p:sp>
        <p:nvSpPr>
          <p:cNvPr id="3" name="Text Placeholder 2">
            <a:extLst>
              <a:ext uri="{FF2B5EF4-FFF2-40B4-BE49-F238E27FC236}">
                <a16:creationId xmlns:a16="http://schemas.microsoft.com/office/drawing/2014/main" id="{9ABA7CF7-0E91-B389-9535-51F28886F7DA}"/>
              </a:ext>
            </a:extLst>
          </p:cNvPr>
          <p:cNvSpPr>
            <a:spLocks noGrp="1"/>
          </p:cNvSpPr>
          <p:nvPr>
            <p:ph type="body" idx="1"/>
          </p:nvPr>
        </p:nvSpPr>
        <p:spPr/>
        <p:txBody>
          <a:bodyPr/>
          <a:lstStyle/>
          <a:p>
            <a:pPr algn="just">
              <a:lnSpc>
                <a:spcPct val="150000"/>
              </a:lnSpc>
              <a:buSzPts val="1000"/>
              <a:tabLst>
                <a:tab pos="457200" algn="l"/>
              </a:tabLst>
            </a:pPr>
            <a:r>
              <a:rPr lang="en-US" sz="1600" b="1">
                <a:latin typeface="Times New Roman"/>
                <a:ea typeface="Aptos" panose="020B0004020202020204" pitchFamily="34" charset="0"/>
                <a:cs typeface="Times New Roman"/>
              </a:rPr>
              <a:t>Improved Traffic Prediction Accuracy</a:t>
            </a:r>
            <a:r>
              <a:rPr lang="en-US" sz="1600">
                <a:latin typeface="Times New Roman"/>
                <a:ea typeface="Aptos" panose="020B0004020202020204" pitchFamily="34" charset="0"/>
                <a:cs typeface="Times New Roman"/>
              </a:rPr>
              <a:t>: The framework will enhance the accuracy of traffic flow predictions in urban environments, assisting authorities in making data-driven decisions.</a:t>
            </a:r>
            <a:endParaRPr lang="en-US" sz="1600" dirty="0">
              <a:latin typeface="Times New Roman"/>
              <a:ea typeface="Aptos" panose="020B0004020202020204" pitchFamily="34" charset="0"/>
              <a:cs typeface="Times New Roman"/>
            </a:endParaRPr>
          </a:p>
          <a:p>
            <a:pPr algn="just">
              <a:lnSpc>
                <a:spcPct val="150000"/>
              </a:lnSpc>
              <a:buSzPts val="1000"/>
              <a:tabLst>
                <a:tab pos="457200" algn="l"/>
              </a:tabLst>
            </a:pPr>
            <a:r>
              <a:rPr lang="en-US" sz="1600" b="1">
                <a:latin typeface="Times New Roman"/>
                <a:ea typeface="Aptos" panose="020B0004020202020204" pitchFamily="34" charset="0"/>
                <a:cs typeface="Times New Roman"/>
              </a:rPr>
              <a:t>Actionable Solutions for Traffic Management</a:t>
            </a:r>
            <a:r>
              <a:rPr lang="en-US" sz="1600">
                <a:latin typeface="Times New Roman"/>
                <a:ea typeface="Aptos" panose="020B0004020202020204" pitchFamily="34" charset="0"/>
                <a:cs typeface="Times New Roman"/>
              </a:rPr>
              <a:t>: By providing dynamic rerouting and traffic signal optimization strategies, the research aims to reduce congestion, decrease travel times, and improve overall traffic efficiency.</a:t>
            </a:r>
            <a:endParaRPr lang="en-US" sz="1600" dirty="0">
              <a:latin typeface="Times New Roman"/>
              <a:ea typeface="Aptos" panose="020B0004020202020204" pitchFamily="34" charset="0"/>
              <a:cs typeface="Times New Roman"/>
            </a:endParaRPr>
          </a:p>
          <a:p>
            <a:pPr algn="just">
              <a:lnSpc>
                <a:spcPct val="150000"/>
              </a:lnSpc>
              <a:buSzPts val="1000"/>
              <a:tabLst>
                <a:tab pos="457200" algn="l"/>
              </a:tabLst>
            </a:pPr>
            <a:r>
              <a:rPr lang="en-US" sz="1600" b="1" dirty="0">
                <a:latin typeface="Times New Roman"/>
                <a:ea typeface="Aptos" panose="020B0004020202020204" pitchFamily="34" charset="0"/>
                <a:cs typeface="Times New Roman"/>
              </a:rPr>
              <a:t>Addressing Urban Mobility Issues</a:t>
            </a:r>
            <a:r>
              <a:rPr lang="en-US" sz="1600" dirty="0">
                <a:latin typeface="Times New Roman"/>
                <a:ea typeface="Aptos" panose="020B0004020202020204" pitchFamily="34" charset="0"/>
                <a:cs typeface="Times New Roman"/>
              </a:rPr>
              <a:t>: The model will support urban planners in tackling challenges related to traffic congestion, thereby improving accessibility and quality of life in urban areas.</a:t>
            </a:r>
          </a:p>
          <a:p>
            <a:pPr algn="just">
              <a:lnSpc>
                <a:spcPct val="150000"/>
              </a:lnSpc>
              <a:buSzPts val="1000"/>
              <a:tabLst>
                <a:tab pos="457200" algn="l"/>
              </a:tabLst>
            </a:pPr>
            <a:r>
              <a:rPr lang="en-US" sz="1600" b="1" dirty="0">
                <a:latin typeface="Times New Roman"/>
                <a:ea typeface="Aptos" panose="020B0004020202020204" pitchFamily="34" charset="0"/>
                <a:cs typeface="Times New Roman"/>
              </a:rPr>
              <a:t>Foundation for Future Research in India</a:t>
            </a:r>
            <a:r>
              <a:rPr lang="en-US" sz="1600" dirty="0">
                <a:latin typeface="Times New Roman"/>
                <a:ea typeface="Aptos" panose="020B0004020202020204" pitchFamily="34" charset="0"/>
                <a:cs typeface="Times New Roman"/>
              </a:rPr>
              <a:t>: The study will contribute to the academic field by establishing a basis for further research on machine learning applications in traffic prediction.</a:t>
            </a:r>
          </a:p>
          <a:p>
            <a:pPr algn="just">
              <a:lnSpc>
                <a:spcPct val="150000"/>
              </a:lnSpc>
              <a:buSzPts val="1000"/>
              <a:tabLst>
                <a:tab pos="457200" algn="l"/>
              </a:tabLst>
            </a:pPr>
            <a:r>
              <a:rPr lang="en-US" sz="1600" b="1" dirty="0">
                <a:latin typeface="Times New Roman"/>
                <a:ea typeface="Aptos" panose="020B0004020202020204" pitchFamily="34" charset="0"/>
                <a:cs typeface="Times New Roman"/>
              </a:rPr>
              <a:t>Societal Benefits</a:t>
            </a:r>
            <a:r>
              <a:rPr lang="en-US" sz="1600" dirty="0">
                <a:latin typeface="Times New Roman"/>
                <a:ea typeface="Aptos" panose="020B0004020202020204" pitchFamily="34" charset="0"/>
                <a:cs typeface="Times New Roman"/>
              </a:rPr>
              <a:t>: Ultimately, the research aims to enhance road safety and promote sustainable transportation, leading to better urban living conditions.</a:t>
            </a:r>
          </a:p>
          <a:p>
            <a:pPr marL="0" lvl="0" indent="0">
              <a:lnSpc>
                <a:spcPct val="150000"/>
              </a:lnSpc>
              <a:spcAft>
                <a:spcPts val="800"/>
              </a:spcAft>
              <a:buSzPts val="1000"/>
              <a:buNone/>
              <a:tabLst>
                <a:tab pos="457200" algn="l"/>
              </a:tabLst>
            </a:pPr>
            <a:endParaRPr lang="en-IN" sz="1800" dirty="0">
              <a:effectLst/>
              <a:latin typeface="Times New Roman"/>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02693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73C49-D0F2-D9C1-01CD-562300C6D33A}"/>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Timeline</a:t>
            </a:r>
          </a:p>
        </p:txBody>
      </p:sp>
      <p:sp>
        <p:nvSpPr>
          <p:cNvPr id="3" name="Text Placeholder 2">
            <a:extLst>
              <a:ext uri="{FF2B5EF4-FFF2-40B4-BE49-F238E27FC236}">
                <a16:creationId xmlns:a16="http://schemas.microsoft.com/office/drawing/2014/main" id="{7F664639-F139-22A6-B34C-CE16595043ED}"/>
              </a:ext>
            </a:extLst>
          </p:cNvPr>
          <p:cNvSpPr>
            <a:spLocks noGrp="1"/>
          </p:cNvSpPr>
          <p:nvPr>
            <p:ph type="body" idx="1"/>
          </p:nvPr>
        </p:nvSpPr>
        <p:spPr/>
        <p:txBody>
          <a:bodyPr/>
          <a:lstStyle/>
          <a:p>
            <a:pPr>
              <a:lnSpc>
                <a:spcPct val="150000"/>
              </a:lnSpc>
              <a:buFont typeface="Arial" panose="020B0604020202020204" pitchFamily="34" charset="0"/>
              <a:buChar char="•"/>
            </a:pPr>
            <a:r>
              <a:rPr lang="en-IN" sz="2400" dirty="0">
                <a:latin typeface="Times New Roman"/>
                <a:cs typeface="Times New Roman"/>
              </a:rPr>
              <a:t>Dec 2023 – oct 2024: Literature review, data collection</a:t>
            </a:r>
          </a:p>
          <a:p>
            <a:pPr>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Oct 2024 – Mar 2025: Feature engineering, initial model training</a:t>
            </a:r>
          </a:p>
          <a:p>
            <a:pPr>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Mar 2025 – Aug 2025: Algorithm development, refinement</a:t>
            </a:r>
          </a:p>
          <a:p>
            <a:pPr>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Aug 2025 – Dec 2025: Model evaluation, validation</a:t>
            </a:r>
          </a:p>
          <a:p>
            <a:pPr>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Jan 2026 – Jun 2026: Clinical validation, adjustments</a:t>
            </a:r>
          </a:p>
          <a:p>
            <a:pPr>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Jul 2026 – Dec 2026: Documentation, dissemination</a:t>
            </a:r>
          </a:p>
          <a:p>
            <a:endParaRPr lang="en-US" dirty="0"/>
          </a:p>
        </p:txBody>
      </p:sp>
    </p:spTree>
    <p:extLst>
      <p:ext uri="{BB962C8B-B14F-4D97-AF65-F5344CB8AC3E}">
        <p14:creationId xmlns:p14="http://schemas.microsoft.com/office/powerpoint/2010/main" val="791681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23160-39A2-4B6D-AC71-1052D859571D}"/>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DB9F1A44-3273-49C5-8A83-207C6A8CD8A6}"/>
              </a:ext>
            </a:extLst>
          </p:cNvPr>
          <p:cNvSpPr>
            <a:spLocks noGrp="1"/>
          </p:cNvSpPr>
          <p:nvPr>
            <p:ph type="body" idx="1"/>
          </p:nvPr>
        </p:nvSpPr>
        <p:spPr/>
        <p:txBody>
          <a:bodyPr/>
          <a:lstStyle/>
          <a:p>
            <a:pPr marL="88900" indent="0" algn="ctr">
              <a:buNone/>
            </a:pPr>
            <a:endParaRPr lang="en-US" sz="8800" dirty="0"/>
          </a:p>
          <a:p>
            <a:pPr marL="88900" indent="0" algn="ctr">
              <a:buNone/>
            </a:pPr>
            <a:r>
              <a:rPr lang="en-US" sz="8800" dirty="0">
                <a:latin typeface="Times New Roman" panose="02020603050405020304" pitchFamily="18" charset="0"/>
                <a:cs typeface="Times New Roman" panose="02020603050405020304" pitchFamily="18" charset="0"/>
              </a:rPr>
              <a:t>Thank You</a:t>
            </a:r>
            <a:endParaRPr lang="en-IN" sz="8800" dirty="0">
              <a:latin typeface="Times New Roman" panose="02020603050405020304" pitchFamily="18" charset="0"/>
              <a:cs typeface="Times New Roman" panose="02020603050405020304" pitchFamily="18" charset="0"/>
            </a:endParaRPr>
          </a:p>
          <a:p>
            <a:pPr marL="88900" indent="0" algn="ctr">
              <a:buNone/>
            </a:pPr>
            <a:endParaRPr lang="en-IN" sz="8800" dirty="0"/>
          </a:p>
        </p:txBody>
      </p:sp>
    </p:spTree>
    <p:extLst>
      <p:ext uri="{BB962C8B-B14F-4D97-AF65-F5344CB8AC3E}">
        <p14:creationId xmlns:p14="http://schemas.microsoft.com/office/powerpoint/2010/main" val="148690636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9851</TotalTime>
  <Words>920</Words>
  <Application>Microsoft Office PowerPoint</Application>
  <PresentationFormat>On-screen Show (4:3)</PresentationFormat>
  <Paragraphs>64</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Simple Light</vt:lpstr>
      <vt:lpstr>              Proposal Presentation  Deepa C PhD Research  Scholar (Data Science) Register No : 2390019 CHRIST Deemed to be University Bangalore   Under Guidance of  Dr Monisha Singh Department of Computer Science CHRIST Deemed to be University Bangalore </vt:lpstr>
      <vt:lpstr>Agenda</vt:lpstr>
      <vt:lpstr>Introduction</vt:lpstr>
      <vt:lpstr>Literature Review </vt:lpstr>
      <vt:lpstr>PowerPoint Presentation</vt:lpstr>
      <vt:lpstr>PowerPoint Presentation</vt:lpstr>
      <vt:lpstr>PowerPoint Presentation</vt:lpstr>
      <vt:lpstr>Research Problem</vt:lpstr>
      <vt:lpstr>Research objective </vt:lpstr>
      <vt:lpstr>Research Methodology </vt:lpstr>
      <vt:lpstr>Expected outcomes</vt:lpstr>
      <vt:lpstr>Timeline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BEAULAH SOUNDARABAI P COMPUTER SCIENCE</dc:creator>
  <cp:lastModifiedBy>Pachappan C</cp:lastModifiedBy>
  <cp:revision>238</cp:revision>
  <dcterms:modified xsi:type="dcterms:W3CDTF">2024-10-15T04:26:19Z</dcterms:modified>
</cp:coreProperties>
</file>