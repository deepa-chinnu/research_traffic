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8" r:id="rId2"/>
    <p:sldId id="269" r:id="rId3"/>
    <p:sldId id="321" r:id="rId4"/>
    <p:sldId id="302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275" r:id="rId15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F800D-05C4-A02C-B250-DE46FD98A211}" v="1518" dt="2025-02-27T02:42:25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92821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571e</a:t>
            </a:r>
          </a:p>
        </p:txBody>
      </p:sp>
    </p:spTree>
    <p:extLst>
      <p:ext uri="{BB962C8B-B14F-4D97-AF65-F5344CB8AC3E}">
        <p14:creationId xmlns:p14="http://schemas.microsoft.com/office/powerpoint/2010/main" val="2651405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Shape 15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Shape 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Shape 5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Shape 5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implify3xsoftware-my.sharepoint.com/:x:/r/personal/deepa_c_simplify3x_com/_layouts/15/Doc.aspx?sourcedoc=%7BD77494C6-C0C5-4E6C-AB72-8542A98A829D%7D&amp;file=Book2.xlsx&amp;action=default&amp;mobileredirect=true&amp;DefaultItemOpen=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1C93-2ABF-4111-B726-020BABF28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431" y="1167225"/>
            <a:ext cx="8520600" cy="4523550"/>
          </a:xfrm>
        </p:spPr>
        <p:txBody>
          <a:bodyPr>
            <a:normAutofit fontScale="90000"/>
          </a:bodyPr>
          <a:lstStyle/>
          <a:p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r>
              <a:rPr lang="en-IN" sz="2400" dirty="0">
                <a:latin typeface="Times New Roman"/>
              </a:rPr>
              <a:t>RAC –03 PRESENTATION</a:t>
            </a:r>
            <a:br>
              <a:rPr lang="en-IN" sz="3000" dirty="0"/>
            </a:br>
            <a:br>
              <a:rPr lang="en-IN" sz="3000" dirty="0"/>
            </a:br>
            <a:r>
              <a:rPr lang="en-IN" sz="1800" b="0" dirty="0"/>
              <a:t>Deepa C</a:t>
            </a:r>
            <a:br>
              <a:rPr lang="en-IN" sz="1800" b="0" dirty="0"/>
            </a:br>
            <a:r>
              <a:rPr lang="en-IN" sz="1800" b="0" dirty="0"/>
              <a:t>PhD Research  Scholar (Data Science)</a:t>
            </a:r>
            <a:br>
              <a:rPr lang="en-IN" sz="1800" b="0" dirty="0"/>
            </a:br>
            <a:r>
              <a:rPr lang="en-IN" sz="1800" b="0" dirty="0"/>
              <a:t>Register No : 2390019</a:t>
            </a:r>
            <a:br>
              <a:rPr lang="en-IN" sz="1800" b="0" dirty="0"/>
            </a:br>
            <a:r>
              <a:rPr lang="en-IN" sz="1800" b="0" dirty="0"/>
              <a:t>CHRIST Deemed to be University</a:t>
            </a:r>
            <a:br>
              <a:rPr lang="en-IN" sz="1800" b="0" dirty="0"/>
            </a:br>
            <a:r>
              <a:rPr lang="en-IN" sz="1800" b="0" dirty="0"/>
              <a:t>Bangalore</a:t>
            </a:r>
            <a:br>
              <a:rPr lang="en-IN" sz="1800" b="0" dirty="0"/>
            </a:br>
            <a:r>
              <a:rPr lang="en-IN" sz="1800" b="0" dirty="0"/>
              <a:t>02/27/2025</a:t>
            </a:r>
            <a:br>
              <a:rPr lang="en-IN" sz="1800" b="0" dirty="0"/>
            </a:br>
            <a:br>
              <a:rPr lang="en-IN" sz="1800" dirty="0"/>
            </a:br>
            <a:r>
              <a:rPr lang="en-IN" sz="1800" dirty="0"/>
              <a:t>Under Guidance of </a:t>
            </a:r>
            <a:br>
              <a:rPr lang="en-IN" sz="1800" dirty="0"/>
            </a:br>
            <a:r>
              <a:rPr lang="en-IN" sz="1800" b="0" dirty="0"/>
              <a:t>Dr Monisha Singh</a:t>
            </a:r>
            <a:br>
              <a:rPr lang="en-IN" sz="1800" b="0" dirty="0"/>
            </a:br>
            <a:r>
              <a:rPr lang="en-IN" sz="1800" b="0" dirty="0"/>
              <a:t>Department of Computer Science</a:t>
            </a:r>
            <a:br>
              <a:rPr lang="en-IN" sz="1800" b="0" dirty="0"/>
            </a:br>
            <a:r>
              <a:rPr lang="en-IN" sz="1800" b="0" dirty="0"/>
              <a:t>CHRIST Deemed to be University</a:t>
            </a:r>
            <a:br>
              <a:rPr lang="en-IN" sz="1800" b="0" dirty="0"/>
            </a:br>
            <a:r>
              <a:rPr lang="en-IN" sz="1800" b="0" dirty="0"/>
              <a:t>Bangalore</a:t>
            </a:r>
            <a:br>
              <a:rPr lang="en-IN" sz="1800" b="0" dirty="0"/>
            </a:br>
            <a:endParaRPr lang="en-IN" sz="1800" b="0"/>
          </a:p>
        </p:txBody>
      </p:sp>
    </p:spTree>
    <p:extLst>
      <p:ext uri="{BB962C8B-B14F-4D97-AF65-F5344CB8AC3E}">
        <p14:creationId xmlns:p14="http://schemas.microsoft.com/office/powerpoint/2010/main" val="1165036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D1CD-7034-4D49-A4A9-165CB86F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749B2-F1AC-4BD0-BFE2-DC662A27E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Literature review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242424"/>
                </a:solidFill>
                <a:latin typeface="Times New Roman"/>
                <a:cs typeface="Times New Roman"/>
              </a:rPr>
              <a:t>Benchmark Evaluation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242424"/>
                </a:solidFill>
                <a:latin typeface="Times New Roman"/>
                <a:cs typeface="Times New Roman"/>
              </a:rPr>
              <a:t>Prediction Accuracy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242424"/>
                </a:solidFill>
                <a:latin typeface="Times New Roman"/>
                <a:cs typeface="Times New Roman"/>
              </a:rPr>
              <a:t>Time Horizon Sensitivity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242424"/>
                </a:solidFill>
                <a:latin typeface="Times New Roman"/>
                <a:cs typeface="Times New Roman"/>
              </a:rPr>
              <a:t>Vehicle Class Impact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242424"/>
                </a:solidFill>
                <a:latin typeface="Times New Roman"/>
                <a:cs typeface="Times New Roman"/>
              </a:rPr>
              <a:t>Parameters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242424"/>
                </a:solidFill>
                <a:latin typeface="Times New Roman"/>
                <a:cs typeface="Times New Roman"/>
              </a:rPr>
              <a:t>Training Time of Model</a:t>
            </a:r>
          </a:p>
          <a:p>
            <a:pPr marL="88900" indent="0">
              <a:buNone/>
            </a:pPr>
            <a:r>
              <a:rPr lang="en-IN" dirty="0"/>
              <a:t>	</a:t>
            </a:r>
          </a:p>
          <a:p>
            <a:pPr marL="88900" indent="0">
              <a:buNone/>
            </a:pPr>
            <a:r>
              <a:rPr lang="en-IN" dirty="0"/>
              <a:t>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FEF83-50E6-0553-A148-C1718B5330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56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89413-93CB-A499-1D41-68E44A2E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3E3C7-BEB5-5F26-D130-EFABCDC74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0997"/>
            <a:ext cx="8520600" cy="4970836"/>
          </a:xfrm>
        </p:spPr>
        <p:txBody>
          <a:bodyPr/>
          <a:lstStyle/>
          <a:p>
            <a:r>
              <a:rPr lang="en-GB" sz="1600" dirty="0">
                <a:latin typeface="Times New Roman"/>
                <a:hlinkClick r:id="rId2"/>
              </a:rPr>
              <a:t>Literature Review</a:t>
            </a:r>
            <a:r>
              <a:rPr lang="en-GB" sz="1600" dirty="0">
                <a:latin typeface="Times New Roman"/>
              </a:rPr>
              <a:t> - link </a:t>
            </a:r>
            <a:endParaRPr lang="en-GB" sz="1600" dirty="0">
              <a:latin typeface="Times New Roman"/>
              <a:hlinkClick r:id="rId2"/>
            </a:endParaRPr>
          </a:p>
          <a:p>
            <a:pPr algn="just">
              <a:lnSpc>
                <a:spcPct val="150000"/>
              </a:lnSpc>
            </a:pPr>
            <a:r>
              <a:rPr lang="en-GB" sz="1600" dirty="0">
                <a:latin typeface="Times New Roman"/>
              </a:rPr>
              <a:t>Identified key parameters like Congestion Level, Travel Time Index, Road Capacity Utilization, and Incident Reports as major traffic predictors.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latin typeface="Times New Roman"/>
              </a:rPr>
              <a:t>Benchmarked various ML models (Linear Regression, Decision Trees, Random Forest, </a:t>
            </a:r>
            <a:r>
              <a:rPr lang="en-GB" sz="1600" dirty="0" err="1">
                <a:latin typeface="Times New Roman"/>
              </a:rPr>
              <a:t>XGBoost</a:t>
            </a:r>
            <a:r>
              <a:rPr lang="en-GB" sz="1600" dirty="0">
                <a:latin typeface="Times New Roman"/>
              </a:rPr>
              <a:t>, LSTM).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latin typeface="Times New Roman"/>
              </a:rPr>
              <a:t>Random Forest chosen for its high accuracy (R² = 0.99999), ability to handle non-linearity, missing data, and feature importance.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latin typeface="Times New Roman"/>
              </a:rPr>
              <a:t>Impact analysis: Congestion Level &amp; Road Capacity Utilization strongly affect traffic, while Public Transport &amp; Parking Usage have minimal impact.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latin typeface="Times New Roman"/>
              </a:rPr>
              <a:t>Time Horizon Sensitivity: Daily predictions are more accurate than weekly/monthly due to lower variability.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latin typeface="Times New Roman"/>
              </a:rPr>
              <a:t>Literature review validated parameter selection, model choice, and impact insights, ensuring a data-driven approach.    </a:t>
            </a:r>
          </a:p>
          <a:p>
            <a:pPr marL="88900" indent="0">
              <a:buNone/>
            </a:pPr>
            <a:r>
              <a:rPr lang="en-GB" dirty="0"/>
              <a:t>                                                                                                                </a:t>
            </a:r>
            <a:r>
              <a:rPr lang="en-GB" sz="1400" dirty="0">
                <a:latin typeface="Times New Roman"/>
              </a:rPr>
              <a:t>01</a:t>
            </a:r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3AC82-4309-3477-BD8B-21DEA2838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02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3C5A-67AF-58D7-67F8-1C103CEB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</p:spPr>
        <p:txBody>
          <a:bodyPr/>
          <a:lstStyle/>
          <a:p>
            <a:r>
              <a:rPr lang="en-US" sz="2400" dirty="0">
                <a:latin typeface="Times New Roman"/>
              </a:rPr>
              <a:t>Benchmark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64CA1-2E64-A1AA-FFBC-37978975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57836"/>
            <a:ext cx="8710112" cy="5064516"/>
          </a:xfrm>
        </p:spPr>
        <p:txBody>
          <a:bodyPr/>
          <a:lstStyle/>
          <a:p>
            <a:pPr marL="8890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50C169-A37C-0194-8880-9D80209EC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083563"/>
              </p:ext>
            </p:extLst>
          </p:nvPr>
        </p:nvGraphicFramePr>
        <p:xfrm>
          <a:off x="402715" y="1646393"/>
          <a:ext cx="7864724" cy="4134937"/>
        </p:xfrm>
        <a:graphic>
          <a:graphicData uri="http://schemas.openxmlformats.org/drawingml/2006/table">
            <a:tbl>
              <a:tblPr bandRow="1">
                <a:tableStyleId>{69C7853C-536D-4A76-A0AE-DD22124D55A5}</a:tableStyleId>
              </a:tblPr>
              <a:tblGrid>
                <a:gridCol w="1606659">
                  <a:extLst>
                    <a:ext uri="{9D8B030D-6E8A-4147-A177-3AD203B41FA5}">
                      <a16:colId xmlns:a16="http://schemas.microsoft.com/office/drawing/2014/main" val="3114849397"/>
                    </a:ext>
                  </a:extLst>
                </a:gridCol>
                <a:gridCol w="1303303">
                  <a:extLst>
                    <a:ext uri="{9D8B030D-6E8A-4147-A177-3AD203B41FA5}">
                      <a16:colId xmlns:a16="http://schemas.microsoft.com/office/drawing/2014/main" val="2823140185"/>
                    </a:ext>
                  </a:extLst>
                </a:gridCol>
                <a:gridCol w="1250856">
                  <a:extLst>
                    <a:ext uri="{9D8B030D-6E8A-4147-A177-3AD203B41FA5}">
                      <a16:colId xmlns:a16="http://schemas.microsoft.com/office/drawing/2014/main" val="1028281316"/>
                    </a:ext>
                  </a:extLst>
                </a:gridCol>
                <a:gridCol w="1078596">
                  <a:extLst>
                    <a:ext uri="{9D8B030D-6E8A-4147-A177-3AD203B41FA5}">
                      <a16:colId xmlns:a16="http://schemas.microsoft.com/office/drawing/2014/main" val="3323900429"/>
                    </a:ext>
                  </a:extLst>
                </a:gridCol>
                <a:gridCol w="1314522">
                  <a:extLst>
                    <a:ext uri="{9D8B030D-6E8A-4147-A177-3AD203B41FA5}">
                      <a16:colId xmlns:a16="http://schemas.microsoft.com/office/drawing/2014/main" val="1563787154"/>
                    </a:ext>
                  </a:extLst>
                </a:gridCol>
                <a:gridCol w="1310788">
                  <a:extLst>
                    <a:ext uri="{9D8B030D-6E8A-4147-A177-3AD203B41FA5}">
                      <a16:colId xmlns:a16="http://schemas.microsoft.com/office/drawing/2014/main" val="3951066629"/>
                    </a:ext>
                  </a:extLst>
                </a:gridCol>
              </a:tblGrid>
              <a:tr h="1000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Metric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Random Forest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Decision Tree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SVM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Linear Regression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ANN (LSTM)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763045481"/>
                  </a:ext>
                </a:extLst>
              </a:tr>
              <a:tr h="1172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Mean Absolute Error (MAE) 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7.08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15.24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21.56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32.81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6.42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1122272559"/>
                  </a:ext>
                </a:extLst>
              </a:tr>
              <a:tr h="1172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Mean Squared Error (MSE) 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818.88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2500.67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3458.21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4105.32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685.44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321817608"/>
                  </a:ext>
                </a:extLst>
              </a:tr>
              <a:tr h="79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R² Score  (Accuracy)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0.99999 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0.9724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0.9451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0.8732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0.99974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2988166947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2634AC-13B7-06FB-512E-B1CD2381DE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4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D30D2-AC61-E352-FAD4-4850F0DEBE0C}"/>
              </a:ext>
            </a:extLst>
          </p:cNvPr>
          <p:cNvSpPr txBox="1"/>
          <p:nvPr/>
        </p:nvSpPr>
        <p:spPr>
          <a:xfrm>
            <a:off x="8326725" y="6064414"/>
            <a:ext cx="3908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3459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6337-1B00-DC9B-DCE2-1E925082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200" dirty="0"/>
              <a:t>Why Random Forest Performs Best?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E3553-17D8-C425-CDA4-F45EE1E64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31800" indent="-342900"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Handles structured numerical data well (e.g., congestion levels, travel time index).</a:t>
            </a:r>
            <a:endParaRPr lang="en-US" sz="1800">
              <a:latin typeface="Times New Roman"/>
            </a:endParaRPr>
          </a:p>
          <a:p>
            <a:pPr marL="431800" indent="-342900"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Less prone to overfitting than Decision Trees (ensemble learning reduces variance).</a:t>
            </a:r>
          </a:p>
          <a:p>
            <a:pPr marL="431800" indent="-342900"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Captures nonlinear relationships in traffic flow better than Linear Regression.</a:t>
            </a:r>
          </a:p>
          <a:p>
            <a:pPr marL="431800" indent="-342900"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Robust to missing values and outliers in real-world traffic data.</a:t>
            </a:r>
          </a:p>
          <a:p>
            <a:pPr marL="431800" indent="-342900" algn="just">
              <a:lnSpc>
                <a:spcPct val="150000"/>
              </a:lnSpc>
            </a:pPr>
            <a:r>
              <a:rPr lang="en-GB" sz="1800" dirty="0">
                <a:latin typeface="Times New Roman"/>
                <a:cs typeface="Times New Roman"/>
              </a:rPr>
              <a:t>High accuracy (R² = 0.99999) → Explains 99.999% of traffic variations.</a:t>
            </a:r>
          </a:p>
          <a:p>
            <a:pPr marL="431800" indent="-342900"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Faster than Deep Learning models (ANNs require massive datasets and </a:t>
            </a:r>
            <a:r>
              <a:rPr lang="en-GB" sz="1800" dirty="0">
                <a:latin typeface="Times New Roman"/>
                <a:cs typeface="Times New Roman"/>
              </a:rPr>
              <a:t>GPUs)</a:t>
            </a:r>
            <a:r>
              <a:rPr lang="en-GB" sz="1800" dirty="0">
                <a:latin typeface="Times New Roman"/>
              </a:rPr>
              <a:t>.</a:t>
            </a:r>
            <a:r>
              <a:rPr lang="en-GB" dirty="0"/>
              <a:t>                     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F4BF2-5C70-D7ED-B4DA-63A05EEDA7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B54AB-D9A7-2C1F-1E7E-C067B80548A0}"/>
              </a:ext>
            </a:extLst>
          </p:cNvPr>
          <p:cNvSpPr txBox="1"/>
          <p:nvPr/>
        </p:nvSpPr>
        <p:spPr>
          <a:xfrm>
            <a:off x="8303036" y="6076259"/>
            <a:ext cx="5093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7486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3B6B-221B-349B-042D-51CB25B6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Prediction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37896-D5D9-8192-CF14-6C7BB7B7A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33ECC5-4606-0BAB-4E6A-FD130FC98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718791"/>
              </p:ext>
            </p:extLst>
          </p:nvPr>
        </p:nvGraphicFramePr>
        <p:xfrm>
          <a:off x="313881" y="1172611"/>
          <a:ext cx="8480716" cy="4848373"/>
        </p:xfrm>
        <a:graphic>
          <a:graphicData uri="http://schemas.openxmlformats.org/drawingml/2006/table">
            <a:tbl>
              <a:tblPr bandRow="1">
                <a:tableStyleId>{306799F8-075E-4A3A-A7F6-7FBC6576F1A4}</a:tableStyleId>
              </a:tblPr>
              <a:tblGrid>
                <a:gridCol w="2120179">
                  <a:extLst>
                    <a:ext uri="{9D8B030D-6E8A-4147-A177-3AD203B41FA5}">
                      <a16:colId xmlns:a16="http://schemas.microsoft.com/office/drawing/2014/main" val="1078459633"/>
                    </a:ext>
                  </a:extLst>
                </a:gridCol>
                <a:gridCol w="2120179">
                  <a:extLst>
                    <a:ext uri="{9D8B030D-6E8A-4147-A177-3AD203B41FA5}">
                      <a16:colId xmlns:a16="http://schemas.microsoft.com/office/drawing/2014/main" val="2127342780"/>
                    </a:ext>
                  </a:extLst>
                </a:gridCol>
                <a:gridCol w="2120179">
                  <a:extLst>
                    <a:ext uri="{9D8B030D-6E8A-4147-A177-3AD203B41FA5}">
                      <a16:colId xmlns:a16="http://schemas.microsoft.com/office/drawing/2014/main" val="1417989214"/>
                    </a:ext>
                  </a:extLst>
                </a:gridCol>
                <a:gridCol w="2120179">
                  <a:extLst>
                    <a:ext uri="{9D8B030D-6E8A-4147-A177-3AD203B41FA5}">
                      <a16:colId xmlns:a16="http://schemas.microsoft.com/office/drawing/2014/main" val="3921816959"/>
                    </a:ext>
                  </a:extLst>
                </a:gridCol>
              </a:tblGrid>
              <a:tr h="232209">
                <a:tc>
                  <a:txBody>
                    <a:bodyPr/>
                    <a:lstStyle/>
                    <a:p>
                      <a:r>
                        <a:rPr lang="en-GB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Why is this good?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83093"/>
                  </a:ext>
                </a:extLst>
              </a:tr>
              <a:tr h="1036009">
                <a:tc>
                  <a:txBody>
                    <a:bodyPr/>
                    <a:lstStyle/>
                    <a:p>
                      <a:r>
                        <a:rPr lang="en-GB" dirty="0"/>
                        <a:t>Mean Absolute Error (MAE)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Measures the average absolute difference between predicted and actual values. Lower MAE indicates better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Error of only ~7 vehicles is negligible considering traffic volume is in thousands to tens of thousands.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7973440"/>
                  </a:ext>
                </a:extLst>
              </a:tr>
              <a:tr h="1196774">
                <a:tc>
                  <a:txBody>
                    <a:bodyPr/>
                    <a:lstStyle/>
                    <a:p>
                      <a:r>
                        <a:rPr lang="en-GB" dirty="0"/>
                        <a:t>Mean Squared Error (MSE)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818.88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Penalizes large errors more due to squaring. Ensures that occasional big mistakes have a significant impact on the metric.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 MSE suggests the model rarely makes large mistakes, improving reliability.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022737"/>
                  </a:ext>
                </a:extLst>
              </a:tr>
              <a:tr h="1800373">
                <a:tc>
                  <a:txBody>
                    <a:bodyPr/>
                    <a:lstStyle/>
                    <a:p>
                      <a:r>
                        <a:rPr lang="en-GB" dirty="0"/>
                        <a:t>R² Score (Accuracy)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0.99999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Measures how well the model explains variance in the data (1 = perfect fit, 0 = no predictive power).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Near-perfect score (99.999%), meaning the model captures almost all variations in Bangalore’s traffic. Most real-world models struggle to exceed 0.9.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98361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BA41-31F6-B5CC-F40C-57555CED92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6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2DE09-9B5C-AA71-44F4-3E64ACAECC52}"/>
              </a:ext>
            </a:extLst>
          </p:cNvPr>
          <p:cNvSpPr txBox="1"/>
          <p:nvPr/>
        </p:nvSpPr>
        <p:spPr>
          <a:xfrm>
            <a:off x="8338569" y="6082181"/>
            <a:ext cx="4560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061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E7B6-80D2-4855-D66F-6F4F4666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Horizon Sensitivity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BC93A-986D-CA45-1C54-BFF5CB1B5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DA07C1-6DC6-B1F2-8AB5-51637BE85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408356"/>
              </p:ext>
            </p:extLst>
          </p:nvPr>
        </p:nvGraphicFramePr>
        <p:xfrm>
          <a:off x="461937" y="1504259"/>
          <a:ext cx="8362225" cy="4346825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1672445">
                  <a:extLst>
                    <a:ext uri="{9D8B030D-6E8A-4147-A177-3AD203B41FA5}">
                      <a16:colId xmlns:a16="http://schemas.microsoft.com/office/drawing/2014/main" val="3479498813"/>
                    </a:ext>
                  </a:extLst>
                </a:gridCol>
                <a:gridCol w="1672445">
                  <a:extLst>
                    <a:ext uri="{9D8B030D-6E8A-4147-A177-3AD203B41FA5}">
                      <a16:colId xmlns:a16="http://schemas.microsoft.com/office/drawing/2014/main" val="3661074468"/>
                    </a:ext>
                  </a:extLst>
                </a:gridCol>
                <a:gridCol w="1672445">
                  <a:extLst>
                    <a:ext uri="{9D8B030D-6E8A-4147-A177-3AD203B41FA5}">
                      <a16:colId xmlns:a16="http://schemas.microsoft.com/office/drawing/2014/main" val="387363037"/>
                    </a:ext>
                  </a:extLst>
                </a:gridCol>
                <a:gridCol w="1672445">
                  <a:extLst>
                    <a:ext uri="{9D8B030D-6E8A-4147-A177-3AD203B41FA5}">
                      <a16:colId xmlns:a16="http://schemas.microsoft.com/office/drawing/2014/main" val="3835763962"/>
                    </a:ext>
                  </a:extLst>
                </a:gridCol>
                <a:gridCol w="1672445">
                  <a:extLst>
                    <a:ext uri="{9D8B030D-6E8A-4147-A177-3AD203B41FA5}">
                      <a16:colId xmlns:a16="http://schemas.microsoft.com/office/drawing/2014/main" val="2804731757"/>
                    </a:ext>
                  </a:extLst>
                </a:gridCol>
              </a:tblGrid>
              <a:tr h="1031053">
                <a:tc>
                  <a:txBody>
                    <a:bodyPr/>
                    <a:lstStyle/>
                    <a:p>
                      <a:r>
                        <a:rPr lang="en-GB" dirty="0"/>
                        <a:t>Prediction 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MAE (Lower is Better)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MSE (Lower is Better)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R² Score (Higher is Better)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Accuracy Trend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493669"/>
                  </a:ext>
                </a:extLst>
              </a:tr>
              <a:tr h="972471">
                <a:tc>
                  <a:txBody>
                    <a:bodyPr/>
                    <a:lstStyle/>
                    <a:p>
                      <a:r>
                        <a:rPr lang="en-GB" dirty="0"/>
                        <a:t>Daily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15,583.61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0.9989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Very High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533426"/>
                  </a:ext>
                </a:extLst>
              </a:tr>
              <a:tr h="972471">
                <a:tc>
                  <a:txBody>
                    <a:bodyPr/>
                    <a:lstStyle/>
                    <a:p>
                      <a:r>
                        <a:rPr lang="en-GB" dirty="0"/>
                        <a:t>Weekly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77.96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22,387.78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0.9873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Slightly Lower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398265"/>
                  </a:ext>
                </a:extLst>
              </a:tr>
              <a:tr h="1370830">
                <a:tc>
                  <a:txBody>
                    <a:bodyPr/>
                    <a:lstStyle/>
                    <a:p>
                      <a:r>
                        <a:rPr lang="en-GB" dirty="0"/>
                        <a:t>Monthly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150+ (Estimate)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40,000+ (Estimate)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&lt;0.95 (Likely Lower)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Significantly Lower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613198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44012-0812-8900-5499-622845C809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84F16-7DA7-0603-3B7B-A607CBF4A98C}"/>
              </a:ext>
            </a:extLst>
          </p:cNvPr>
          <p:cNvSpPr txBox="1"/>
          <p:nvPr/>
        </p:nvSpPr>
        <p:spPr>
          <a:xfrm>
            <a:off x="8391869" y="6076259"/>
            <a:ext cx="46193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628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8DC0-E7C5-9345-409A-822F3FBB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66" y="593367"/>
            <a:ext cx="8502834" cy="408164"/>
          </a:xfrm>
        </p:spPr>
        <p:txBody>
          <a:bodyPr/>
          <a:lstStyle/>
          <a:p>
            <a:r>
              <a:rPr lang="en-GB" dirty="0"/>
              <a:t>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7D7C2-9564-CB5B-7C45-4F6F16E4E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788" y="1430032"/>
            <a:ext cx="8520600" cy="4555200"/>
          </a:xfrm>
        </p:spPr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722737-3C87-B144-85FC-527A291F7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425990"/>
              </p:ext>
            </p:extLst>
          </p:nvPr>
        </p:nvGraphicFramePr>
        <p:xfrm>
          <a:off x="236891" y="1113388"/>
          <a:ext cx="8741265" cy="4974080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2913755">
                  <a:extLst>
                    <a:ext uri="{9D8B030D-6E8A-4147-A177-3AD203B41FA5}">
                      <a16:colId xmlns:a16="http://schemas.microsoft.com/office/drawing/2014/main" val="3103044225"/>
                    </a:ext>
                  </a:extLst>
                </a:gridCol>
                <a:gridCol w="2913755">
                  <a:extLst>
                    <a:ext uri="{9D8B030D-6E8A-4147-A177-3AD203B41FA5}">
                      <a16:colId xmlns:a16="http://schemas.microsoft.com/office/drawing/2014/main" val="1430332667"/>
                    </a:ext>
                  </a:extLst>
                </a:gridCol>
                <a:gridCol w="2913755">
                  <a:extLst>
                    <a:ext uri="{9D8B030D-6E8A-4147-A177-3AD203B41FA5}">
                      <a16:colId xmlns:a16="http://schemas.microsoft.com/office/drawing/2014/main" val="3555556388"/>
                    </a:ext>
                  </a:extLst>
                </a:gridCol>
              </a:tblGrid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Parameter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Correlation with Traffic Volume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Impact Based on Literature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1449018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Congestion Level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0.83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Very High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44126028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Travel Time Index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0.69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Very High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75062942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Road Capacity Utilization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0.65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Very High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21044823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Incident Reports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0.33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84313649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Environmental Impact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5251915"/>
                  </a:ext>
                </a:extLst>
              </a:tr>
              <a:tr h="62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Average Speed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-0.34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Negative Impact (Inverse Relationship)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93035646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Pedestrian &amp; Cyclist Count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-0.55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Negative Impact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88655216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Public Transport Usage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-0.001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Low Impact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27851952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Parking Usage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-0.02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Low Impact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33334806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Traffic Signal Compliance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0.005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Low Impact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34097073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Weather Conditions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N/A (Categorical)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Potential Factor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2670134"/>
                  </a:ext>
                </a:extLst>
              </a:tr>
              <a:tr h="31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Roadwork &amp; Construction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N/A (Categorical)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Potential Factor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3228692"/>
                  </a:ext>
                </a:extLst>
              </a:tr>
              <a:tr h="62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Time of Day / Day of Week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N/A (Feature Engineering Needed)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Critical for Time-Based Models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734086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0BA5-98C9-344A-F273-BDF7638E4E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DEA16-1F0C-35AD-09DF-7AFA644B1E0F}"/>
              </a:ext>
            </a:extLst>
          </p:cNvPr>
          <p:cNvSpPr txBox="1"/>
          <p:nvPr/>
        </p:nvSpPr>
        <p:spPr>
          <a:xfrm>
            <a:off x="8279347" y="6111793"/>
            <a:ext cx="544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7272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3346-F972-6831-0150-D3EDD300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0BFEA-2CC0-7042-7614-A4E3FD2BA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Congestion Level, Travel Time Index, and Road Capacity Utilization are the most critical factors affecting traffic volume.</a:t>
            </a:r>
            <a:endParaRPr lang="en-US" sz="1800" dirty="0"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Incident Reports and Environmental Impact also significantly contribute to traffic patterns.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Average Speed, Pedestrian &amp; Cyclist Count have negative correlations (higher traffic reduces speed).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Weather, Roadwork, and Time of Day need additional feature engineering to improve model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6CFCA-1F1B-C397-00C9-CE6281FB7B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1D58C-ED38-1F83-2EFD-748C443A1F2B}"/>
              </a:ext>
            </a:extLst>
          </p:cNvPr>
          <p:cNvSpPr txBox="1"/>
          <p:nvPr/>
        </p:nvSpPr>
        <p:spPr>
          <a:xfrm>
            <a:off x="8314880" y="6017035"/>
            <a:ext cx="4264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8729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9AA7-E570-1EC5-5C79-DF9D1862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latin typeface="Times New Roman"/>
              </a:rPr>
              <a:t>Impact of Different Vehicle Classes on Prediction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F2A0A-B50D-2359-81F8-116E426EB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69452"/>
            <a:ext cx="8520600" cy="4922381"/>
          </a:xfrm>
        </p:spPr>
        <p:txBody>
          <a:bodyPr/>
          <a:lstStyle/>
          <a:p>
            <a:pPr marL="88900" indent="0">
              <a:lnSpc>
                <a:spcPct val="150000"/>
              </a:lnSpc>
              <a:buNone/>
            </a:pPr>
            <a:r>
              <a:rPr lang="en-GB" sz="1800" dirty="0">
                <a:latin typeface="Times New Roman"/>
              </a:rPr>
              <a:t>Strongly Correlated with Traffic Volume(+</a:t>
            </a:r>
            <a:r>
              <a:rPr lang="en-GB" sz="1800" dirty="0" err="1">
                <a:latin typeface="Times New Roman"/>
              </a:rPr>
              <a:t>ve</a:t>
            </a:r>
            <a:r>
              <a:rPr lang="en-GB" sz="1800" dirty="0">
                <a:latin typeface="Times New Roman"/>
              </a:rPr>
              <a:t>):</a:t>
            </a:r>
            <a:endParaRPr lang="en-US" sz="1800"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Environmental Impact (1.00)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Congestion Level(0.83)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Travel Time Index(0.69)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Road capacity utilization(0.65)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Incident Reports(0.33)</a:t>
            </a:r>
          </a:p>
          <a:p>
            <a:endParaRPr lang="en-GB" dirty="0"/>
          </a:p>
          <a:p>
            <a:pPr marL="88900" indent="0">
              <a:buNone/>
            </a:pPr>
            <a:endParaRPr lang="en-GB" dirty="0"/>
          </a:p>
          <a:p>
            <a:endParaRPr lang="en-GB" dirty="0"/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2F2CF1A-0CF8-D5D5-9790-26875D5207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10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B9D5E-CF97-2FFB-ECF7-75DC35ADEB09}"/>
              </a:ext>
            </a:extLst>
          </p:cNvPr>
          <p:cNvSpPr txBox="1"/>
          <p:nvPr/>
        </p:nvSpPr>
        <p:spPr>
          <a:xfrm>
            <a:off x="8303036" y="6017036"/>
            <a:ext cx="473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49568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458D-A461-C0DB-152B-17238F59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6B593-13FA-6EF7-27F6-2BA374913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44406"/>
            <a:ext cx="8520600" cy="5147427"/>
          </a:xfrm>
        </p:spPr>
        <p:txBody>
          <a:bodyPr/>
          <a:lstStyle/>
          <a:p>
            <a:pPr marL="88900" indent="0" algn="just">
              <a:lnSpc>
                <a:spcPct val="150000"/>
              </a:lnSpc>
              <a:buNone/>
            </a:pPr>
            <a:r>
              <a:rPr lang="en-GB" sz="1800" dirty="0">
                <a:latin typeface="Times New Roman"/>
              </a:rPr>
              <a:t>Negatively Correlated (-</a:t>
            </a:r>
            <a:r>
              <a:rPr lang="en-GB" sz="1800" dirty="0" err="1">
                <a:latin typeface="Times New Roman"/>
              </a:rPr>
              <a:t>ve</a:t>
            </a:r>
            <a:r>
              <a:rPr lang="en-GB" sz="1800" dirty="0">
                <a:latin typeface="Times New Roman"/>
              </a:rPr>
              <a:t>):</a:t>
            </a:r>
            <a:endParaRPr lang="en-US" sz="1800"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Average Speed (-0.34) → Higher traffic volume leads to lower speed.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Pedestrian &amp; Cyclist Count (-0.55) → More pedestrians/cyclists reduce vehicle traffic.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</a:rPr>
              <a:t>Parking Usage (-0.02) &amp; Public Transport Usage (-0.001) → Minimal effect.</a:t>
            </a:r>
          </a:p>
          <a:p>
            <a:pPr marL="88900" indent="0">
              <a:buNone/>
            </a:pPr>
            <a:endParaRPr lang="en-GB" dirty="0"/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CBF69-5C2D-9F63-5034-8A1FCF608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658C8-1F5D-2C55-709B-D7E0C8B204C4}"/>
              </a:ext>
            </a:extLst>
          </p:cNvPr>
          <p:cNvSpPr txBox="1"/>
          <p:nvPr/>
        </p:nvSpPr>
        <p:spPr>
          <a:xfrm>
            <a:off x="8350414" y="6017036"/>
            <a:ext cx="5211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6755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7D92-AE66-9613-C1DD-25041CFF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BF237-8209-0B28-4FA7-D94D5AC4E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Congestion Level &amp; Road Capacity Utilization are major predictors of traffic volume.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GB" dirty="0"/>
              <a:t>Public Transport Usage has minimal impact, implying that high bus usage doesn't reduce vehicle traffic significantly.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Prediction accuracy may improve if congestion and incident reports are prioritized.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8F380A-946B-2134-14D3-ED8BBC6A2F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12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2688B-5E37-F493-EDED-93E8C1B6FCDD}"/>
              </a:ext>
            </a:extLst>
          </p:cNvPr>
          <p:cNvSpPr txBox="1"/>
          <p:nvPr/>
        </p:nvSpPr>
        <p:spPr>
          <a:xfrm>
            <a:off x="8433326" y="5945969"/>
            <a:ext cx="4974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34005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2D53-C0CD-BF5A-BC50-A9CBDCD4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Time of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554C3-55FF-379D-CF5A-91B00CE9B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F0952F-D66A-C57B-880E-D2387E3A3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190893"/>
              </p:ext>
            </p:extLst>
          </p:nvPr>
        </p:nvGraphicFramePr>
        <p:xfrm>
          <a:off x="319803" y="1320668"/>
          <a:ext cx="8492525" cy="4749751"/>
        </p:xfrm>
        <a:graphic>
          <a:graphicData uri="http://schemas.openxmlformats.org/drawingml/2006/table">
            <a:tbl>
              <a:tblPr bandRow="1">
                <a:tableStyleId>{E269D01E-BC32-4049-B463-5C60D7B0CCD2}</a:tableStyleId>
              </a:tblPr>
              <a:tblGrid>
                <a:gridCol w="1698505">
                  <a:extLst>
                    <a:ext uri="{9D8B030D-6E8A-4147-A177-3AD203B41FA5}">
                      <a16:colId xmlns:a16="http://schemas.microsoft.com/office/drawing/2014/main" val="539656467"/>
                    </a:ext>
                  </a:extLst>
                </a:gridCol>
                <a:gridCol w="1698505">
                  <a:extLst>
                    <a:ext uri="{9D8B030D-6E8A-4147-A177-3AD203B41FA5}">
                      <a16:colId xmlns:a16="http://schemas.microsoft.com/office/drawing/2014/main" val="1826549835"/>
                    </a:ext>
                  </a:extLst>
                </a:gridCol>
                <a:gridCol w="1698505">
                  <a:extLst>
                    <a:ext uri="{9D8B030D-6E8A-4147-A177-3AD203B41FA5}">
                      <a16:colId xmlns:a16="http://schemas.microsoft.com/office/drawing/2014/main" val="3906459838"/>
                    </a:ext>
                  </a:extLst>
                </a:gridCol>
                <a:gridCol w="1698505">
                  <a:extLst>
                    <a:ext uri="{9D8B030D-6E8A-4147-A177-3AD203B41FA5}">
                      <a16:colId xmlns:a16="http://schemas.microsoft.com/office/drawing/2014/main" val="1715007626"/>
                    </a:ext>
                  </a:extLst>
                </a:gridCol>
                <a:gridCol w="1698505">
                  <a:extLst>
                    <a:ext uri="{9D8B030D-6E8A-4147-A177-3AD203B41FA5}">
                      <a16:colId xmlns:a16="http://schemas.microsoft.com/office/drawing/2014/main" val="1073842140"/>
                    </a:ext>
                  </a:extLst>
                </a:gridCol>
              </a:tblGrid>
              <a:tr h="1306810">
                <a:tc>
                  <a:txBody>
                    <a:bodyPr/>
                    <a:lstStyle/>
                    <a:p>
                      <a:r>
                        <a:rPr lang="en-GB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10,000 Samples (~10MB)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100,000 Samples (~100MB)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1,000,000 Samples (~1GB)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10,000,000 Samples (~10GB)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36927"/>
                  </a:ext>
                </a:extLst>
              </a:tr>
              <a:tr h="929845">
                <a:tc>
                  <a:txBody>
                    <a:bodyPr/>
                    <a:lstStyle/>
                    <a:p>
                      <a:r>
                        <a:rPr lang="en-GB" dirty="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~0.5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~2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~10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705027"/>
                  </a:ext>
                </a:extLst>
              </a:tr>
              <a:tr h="628274">
                <a:tc>
                  <a:txBody>
                    <a:bodyPr/>
                    <a:lstStyle/>
                    <a:p>
                      <a:r>
                        <a:rPr lang="en-GB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~2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~10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137213"/>
                  </a:ext>
                </a:extLst>
              </a:tr>
              <a:tr h="628274">
                <a:tc>
                  <a:txBody>
                    <a:bodyPr/>
                    <a:lstStyle/>
                    <a:p>
                      <a:r>
                        <a:rPr lang="en-GB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~10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 hour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179399"/>
                  </a:ext>
                </a:extLst>
              </a:tr>
              <a:tr h="628274">
                <a:tc>
                  <a:txBody>
                    <a:bodyPr/>
                    <a:lstStyle/>
                    <a:p>
                      <a:r>
                        <a:rPr lang="en-GB" dirty="0" err="1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~5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~30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~30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434509"/>
                  </a:ext>
                </a:extLst>
              </a:tr>
              <a:tr h="628274">
                <a:tc>
                  <a:txBody>
                    <a:bodyPr/>
                    <a:lstStyle/>
                    <a:p>
                      <a:r>
                        <a:rPr lang="en-GB" dirty="0"/>
                        <a:t>Neural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~30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~30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~5+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47126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D48C-6AF9-B120-3F02-170410EA22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13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9B5DD-FB91-5813-CC8B-DD8EB900C458}"/>
              </a:ext>
            </a:extLst>
          </p:cNvPr>
          <p:cNvSpPr txBox="1"/>
          <p:nvPr/>
        </p:nvSpPr>
        <p:spPr>
          <a:xfrm>
            <a:off x="8385946" y="6099948"/>
            <a:ext cx="44417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35963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3160-39A2-4B6D-AC71-1052D859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F1A44-3273-49C5-8A83-207C6A8CD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 algn="ctr">
              <a:buNone/>
            </a:pPr>
            <a:endParaRPr lang="en-US" sz="8800"/>
          </a:p>
          <a:p>
            <a:pPr marL="88900" indent="0" algn="ctr">
              <a:buNone/>
            </a:pPr>
            <a:r>
              <a:rPr lang="en-US" sz="88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 algn="ctr">
              <a:buNone/>
            </a:pPr>
            <a:endParaRPr lang="en-IN" sz="8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64508-9A96-AEC6-6656-06E3E7291A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90636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161081-957D-44C8-A634-A09922DEA253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Simple Light</vt:lpstr>
      <vt:lpstr>     RAC –03 PRESENTATION  Deepa C PhD Research  Scholar (Data Science) Register No : 2390019 CHRIST Deemed to be University Bangalore 02/27/2025  Under Guidance of  Dr Monisha Singh Department of Computer Science CHRIST Deemed to be University Bangalore </vt:lpstr>
      <vt:lpstr>Agenda</vt:lpstr>
      <vt:lpstr>Literature Review </vt:lpstr>
      <vt:lpstr>Benchmark Evaluation</vt:lpstr>
      <vt:lpstr>Why Random Forest Performs Best?</vt:lpstr>
      <vt:lpstr>Prediction Accuracy</vt:lpstr>
      <vt:lpstr>Time Horizon Sensitivity</vt:lpstr>
      <vt:lpstr>Parameters</vt:lpstr>
      <vt:lpstr>PowerPoint Presentation</vt:lpstr>
      <vt:lpstr>Impact of Different Vehicle Classes on Prediction Accuracy</vt:lpstr>
      <vt:lpstr>PowerPoint Presentation</vt:lpstr>
      <vt:lpstr>Findings</vt:lpstr>
      <vt:lpstr>Training Time of Models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BEAULAH SOUNDARABAI P COMPUTER SCIENCE</dc:creator>
  <cp:revision>424</cp:revision>
  <dcterms:modified xsi:type="dcterms:W3CDTF">2025-07-25T10:35:43Z</dcterms:modified>
</cp:coreProperties>
</file>