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68" r:id="rId3"/>
    <p:sldId id="339" r:id="rId4"/>
    <p:sldId id="269" r:id="rId5"/>
    <p:sldId id="321" r:id="rId6"/>
    <p:sldId id="325" r:id="rId7"/>
    <p:sldId id="327" r:id="rId8"/>
    <p:sldId id="329" r:id="rId9"/>
    <p:sldId id="322" r:id="rId10"/>
    <p:sldId id="324" r:id="rId11"/>
    <p:sldId id="323" r:id="rId12"/>
    <p:sldId id="330" r:id="rId13"/>
    <p:sldId id="331" r:id="rId14"/>
    <p:sldId id="332" r:id="rId15"/>
    <p:sldId id="333" r:id="rId16"/>
    <p:sldId id="334" r:id="rId17"/>
    <p:sldId id="335" r:id="rId18"/>
    <p:sldId id="336" r:id="rId19"/>
    <p:sldId id="326" r:id="rId20"/>
    <p:sldId id="302" r:id="rId21"/>
    <p:sldId id="316" r:id="rId22"/>
    <p:sldId id="317" r:id="rId23"/>
    <p:sldId id="338" r:id="rId24"/>
    <p:sldId id="275" r:id="rId2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571e</a:t>
            </a:r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311700" y="1886797"/>
            <a:ext cx="8520600" cy="18429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3" name="Shape 13"/>
          <p:cNvSpPr/>
          <p:nvPr/>
        </p:nvSpPr>
        <p:spPr>
          <a:xfrm flipH="1">
            <a:off x="18" y="67300"/>
            <a:ext cx="9143982" cy="1420254"/>
          </a:xfrm>
          <a:prstGeom prst="flowChartDocument">
            <a:avLst/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" name="Shape 14"/>
          <p:cNvSpPr/>
          <p:nvPr/>
        </p:nvSpPr>
        <p:spPr>
          <a:xfrm flipH="1">
            <a:off x="18" y="0"/>
            <a:ext cx="9143982" cy="1420254"/>
          </a:xfrm>
          <a:prstGeom prst="flowChartDocument">
            <a:avLst/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" name="Shape 15"/>
          <p:cNvSpPr/>
          <p:nvPr/>
        </p:nvSpPr>
        <p:spPr>
          <a:xfrm>
            <a:off x="-11025" y="5919900"/>
            <a:ext cx="9155100" cy="938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" name="Shape 16"/>
          <p:cNvSpPr txBox="1"/>
          <p:nvPr/>
        </p:nvSpPr>
        <p:spPr>
          <a:xfrm>
            <a:off x="25" y="5919900"/>
            <a:ext cx="35721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MISSION</a:t>
            </a:r>
            <a:endParaRPr b="1">
              <a:solidFill>
                <a:srgbClr val="FFFFFF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CHRIST is a nurturing ground for an individual’s holistic development to make effective contribution to the society in a dynamic environment</a:t>
            </a:r>
            <a:endParaRPr sz="1100">
              <a:solidFill>
                <a:srgbClr val="FFFFFF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  <p:sp>
        <p:nvSpPr>
          <p:cNvPr id="17" name="Shape 17"/>
          <p:cNvSpPr txBox="1"/>
          <p:nvPr/>
        </p:nvSpPr>
        <p:spPr>
          <a:xfrm>
            <a:off x="3709075" y="5919900"/>
            <a:ext cx="20307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VISION</a:t>
            </a:r>
            <a:endParaRPr b="1">
              <a:solidFill>
                <a:srgbClr val="FFFFFF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Excellence and Service</a:t>
            </a:r>
            <a:endParaRPr sz="1100">
              <a:solidFill>
                <a:srgbClr val="FFFFFF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  <p:sp>
        <p:nvSpPr>
          <p:cNvPr id="18" name="Shape 18"/>
          <p:cNvSpPr txBox="1"/>
          <p:nvPr/>
        </p:nvSpPr>
        <p:spPr>
          <a:xfrm>
            <a:off x="6067875" y="5919900"/>
            <a:ext cx="29844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CORE   VALUES</a:t>
            </a:r>
            <a:endParaRPr b="1">
              <a:solidFill>
                <a:srgbClr val="FFFFFF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Faith in God |  Moral Uprightness</a:t>
            </a:r>
            <a:br>
              <a:rPr lang="en-GB" sz="1100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r>
              <a:rPr lang="en-GB" sz="1100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 Love of Fellow Beings   </a:t>
            </a:r>
            <a:br>
              <a:rPr lang="en-GB" sz="1100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r>
              <a:rPr lang="en-GB" sz="1100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Social Responsibility | Pursuit of Excellence</a:t>
            </a:r>
            <a:endParaRPr sz="1100">
              <a:solidFill>
                <a:srgbClr val="FFFFFF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  <p:pic>
        <p:nvPicPr>
          <p:cNvPr id="19" name="Shape 1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943450" y="232167"/>
            <a:ext cx="2764676" cy="1002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32" name="Shape 32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" name="Shape 33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Excellence and Service</a:t>
            </a:r>
            <a:endParaRPr>
              <a:solidFill>
                <a:srgbClr val="FFFFFF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  <p:sp>
        <p:nvSpPr>
          <p:cNvPr id="34" name="Shape 34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" name="Shape 35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" name="Shape 36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r>
              <a:rPr lang="en-GB" sz="1200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Deemed to be University</a:t>
            </a:r>
            <a:endParaRPr sz="1200">
              <a:solidFill>
                <a:srgbClr val="FFFFFF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Shape 40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2" name="Shape 42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" name="Shape 43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Excellence and Service</a:t>
            </a:r>
            <a:endParaRPr>
              <a:solidFill>
                <a:srgbClr val="FFFFFF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  <p:sp>
        <p:nvSpPr>
          <p:cNvPr id="44" name="Shape 44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" name="Shape 45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" name="Shape 46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r>
              <a:rPr lang="en-GB" sz="1200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Deemed to be University</a:t>
            </a:r>
            <a:endParaRPr sz="1200">
              <a:solidFill>
                <a:srgbClr val="FFFFFF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50" name="Shape 50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" name="Shape 51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Excellence and Service</a:t>
            </a:r>
            <a:endParaRPr>
              <a:solidFill>
                <a:srgbClr val="FFFFFF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  <p:sp>
        <p:nvSpPr>
          <p:cNvPr id="52" name="Shape 52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3" name="Shape 53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4" name="Shape 54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r>
              <a:rPr lang="en-GB" sz="1200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Deemed to be University</a:t>
            </a:r>
            <a:endParaRPr sz="1200">
              <a:solidFill>
                <a:srgbClr val="FFFFFF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7" name="Shape 5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" name="Shape 5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59" name="Shape 59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" name="Shape 60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Excellence and Service</a:t>
            </a:r>
            <a:endParaRPr>
              <a:solidFill>
                <a:srgbClr val="FFFFFF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  <p:sp>
        <p:nvSpPr>
          <p:cNvPr id="61" name="Shape 61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" name="Shape 62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" name="Shape 63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r>
              <a:rPr lang="en-GB" sz="1200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Deemed to be University</a:t>
            </a:r>
            <a:endParaRPr sz="1200">
              <a:solidFill>
                <a:srgbClr val="FFFFFF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6" name="Shape 6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67" name="Shape 67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8" name="Shape 68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Excellence and Service</a:t>
            </a:r>
            <a:endParaRPr>
              <a:solidFill>
                <a:srgbClr val="FFFFFF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  <p:sp>
        <p:nvSpPr>
          <p:cNvPr id="69" name="Shape 69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0" name="Shape 70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1" name="Shape 71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r>
              <a:rPr lang="en-GB" sz="1200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Deemed to be University</a:t>
            </a:r>
            <a:endParaRPr sz="1200">
              <a:solidFill>
                <a:srgbClr val="FFFFFF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" name="Shape 74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5" name="Shape 75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6" name="Shape 76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7" name="Shape 7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78" name="Shape 78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" name="Shape 79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Excellence and Service</a:t>
            </a:r>
            <a:endParaRPr>
              <a:solidFill>
                <a:srgbClr val="FFFFFF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  <p:sp>
        <p:nvSpPr>
          <p:cNvPr id="80" name="Shape 80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1" name="Shape 81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Shape 82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r>
              <a:rPr lang="en-GB" sz="1200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Deemed to be University</a:t>
            </a:r>
            <a:endParaRPr sz="1200">
              <a:solidFill>
                <a:srgbClr val="FFFFFF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85" name="Shape 8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86" name="Shape 86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7" name="Shape 87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Excellence and Service</a:t>
            </a:r>
            <a:endParaRPr>
              <a:solidFill>
                <a:srgbClr val="FFFFFF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  <p:sp>
        <p:nvSpPr>
          <p:cNvPr id="88" name="Shape 88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" name="Shape 89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0" name="Shape 90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r>
              <a:rPr lang="en-GB" sz="1200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Deemed to be University</a:t>
            </a:r>
            <a:endParaRPr sz="1200">
              <a:solidFill>
                <a:srgbClr val="FFFFFF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>
            <a:spLocks noGrp="1"/>
          </p:cNvSpPr>
          <p:nvPr>
            <p:ph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683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 algn="ctr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ctr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ctr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ctr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ctr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ctr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ctr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ctr"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4" name="Shape 9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95" name="Shape 95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" name="Shape 96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Excellence and Service</a:t>
            </a:r>
            <a:endParaRPr>
              <a:solidFill>
                <a:srgbClr val="FFFFFF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  <p:sp>
        <p:nvSpPr>
          <p:cNvPr id="97" name="Shape 97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8" name="Shape 98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9" name="Shape 99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r>
              <a:rPr lang="en-GB" sz="1200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Deemed to be University</a:t>
            </a:r>
            <a:endParaRPr sz="1200">
              <a:solidFill>
                <a:srgbClr val="FFFFFF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02" name="Shape 102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Shape 103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Excellence and Service</a:t>
            </a:r>
            <a:endParaRPr>
              <a:solidFill>
                <a:srgbClr val="FFFFFF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  <p:sp>
        <p:nvSpPr>
          <p:cNvPr id="104" name="Shape 104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5" name="Shape 105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6" name="Shape 106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r>
              <a:rPr lang="en-GB" sz="1200">
                <a:solidFill>
                  <a:srgbClr val="FFFFF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Deemed to be University</a:t>
            </a:r>
            <a:endParaRPr sz="1200">
              <a:solidFill>
                <a:srgbClr val="FFFFFF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/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683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chivo Narrow"/>
              <a:buChar char="●"/>
              <a:defRPr sz="2200"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914400" lvl="1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○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L="1371600" lvl="2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■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lvl="3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●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lvl="4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○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lvl="5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■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lvl="6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●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lvl="7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○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lvl="8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Font typeface="Archivo Narrow"/>
              <a:buChar char="■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/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1pPr>
            <a:lvl2pPr lvl="1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2pPr>
            <a:lvl3pPr lvl="2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3pPr>
            <a:lvl4pPr lvl="3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4pPr>
            <a:lvl5pPr lvl="4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5pPr>
            <a:lvl6pPr lvl="5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6pPr>
            <a:lvl7pPr lvl="6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7pPr>
            <a:lvl8pPr lvl="7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8pPr>
            <a:lvl9pPr lvl="8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431" y="1167225"/>
            <a:ext cx="8520600" cy="4523550"/>
          </a:xfrm>
        </p:spPr>
        <p:txBody>
          <a:bodyPr>
            <a:normAutofit fontScale="90000"/>
          </a:bodyPr>
          <a:lstStyle/>
          <a:p>
            <a:br>
              <a:rPr lang="en-IN" sz="3000" dirty="0"/>
            </a:br>
            <a:br>
              <a:rPr lang="en-IN" sz="3000" dirty="0"/>
            </a:br>
            <a:br>
              <a:rPr lang="en-IN" sz="3000" dirty="0"/>
            </a:br>
            <a:br>
              <a:rPr lang="en-IN" sz="3000" dirty="0"/>
            </a:br>
            <a:br>
              <a:rPr lang="en-IN" sz="3000" dirty="0"/>
            </a:br>
            <a:br>
              <a:rPr lang="en-IN" sz="3000" dirty="0"/>
            </a:br>
            <a:r>
              <a:rPr lang="en-IN" sz="2000" dirty="0">
                <a:latin typeface="Times New Roman" panose="02020503050405090304"/>
              </a:rPr>
              <a:t>RAC 4: Comparative Analysis of Traffic Prediction Models</a:t>
            </a:r>
            <a:br>
              <a:rPr lang="en-IN" sz="2000" dirty="0">
                <a:latin typeface="Times New Roman" panose="02020503050405090304"/>
              </a:rPr>
            </a:br>
            <a:br>
              <a:rPr lang="en-IN" sz="3000" dirty="0"/>
            </a:br>
            <a:r>
              <a:rPr lang="en-IN" sz="1800" b="0" dirty="0"/>
              <a:t>Deepa C</a:t>
            </a:r>
            <a:br>
              <a:rPr lang="en-IN" sz="1800" b="0" dirty="0"/>
            </a:br>
            <a:r>
              <a:rPr lang="en-IN" sz="1800" b="0" dirty="0"/>
              <a:t>PhD Research  Scholar (Data Science)</a:t>
            </a:r>
            <a:br>
              <a:rPr lang="en-IN" sz="1800" b="0" dirty="0"/>
            </a:br>
            <a:r>
              <a:rPr lang="en-IN" sz="1800" b="0" dirty="0"/>
              <a:t>Register No : 2390019</a:t>
            </a:r>
            <a:br>
              <a:rPr lang="en-IN" sz="1800" b="0" dirty="0"/>
            </a:br>
            <a:r>
              <a:rPr lang="en-IN" sz="1800" b="0" dirty="0"/>
              <a:t>CHRIST Deemed to be University</a:t>
            </a:r>
            <a:br>
              <a:rPr lang="en-IN" sz="1800" b="0" dirty="0"/>
            </a:br>
            <a:r>
              <a:rPr lang="en-IN" sz="1800" b="0" dirty="0"/>
              <a:t>Bangalore</a:t>
            </a:r>
            <a:br>
              <a:rPr lang="en-IN" sz="1800" b="0" dirty="0"/>
            </a:br>
            <a:r>
              <a:rPr lang="en-IN" sz="1800" b="0" dirty="0"/>
              <a:t>2</a:t>
            </a:r>
            <a:r>
              <a:rPr lang="en-US" altLang="en-IN" sz="1800" b="0" dirty="0"/>
              <a:t>6</a:t>
            </a:r>
            <a:r>
              <a:rPr lang="en-IN" sz="1800" b="0" dirty="0"/>
              <a:t>/11/2025</a:t>
            </a:r>
            <a:br>
              <a:rPr lang="en-IN" sz="1800" b="0" dirty="0"/>
            </a:br>
            <a:br>
              <a:rPr lang="en-IN" sz="1800" dirty="0"/>
            </a:br>
            <a:r>
              <a:rPr lang="en-IN" sz="1800" dirty="0"/>
              <a:t>Under Guidance of </a:t>
            </a:r>
            <a:br>
              <a:rPr lang="en-IN" sz="1800" dirty="0"/>
            </a:br>
            <a:r>
              <a:rPr lang="en-IN" sz="1800" b="0" dirty="0"/>
              <a:t>Dr Monisha Singh</a:t>
            </a:r>
            <a:br>
              <a:rPr lang="en-IN" sz="1800" b="0" dirty="0"/>
            </a:br>
            <a:r>
              <a:rPr lang="en-IN" sz="1800" b="0" dirty="0"/>
              <a:t>Department of Computer Science</a:t>
            </a:r>
            <a:br>
              <a:rPr lang="en-IN" sz="1800" b="0" dirty="0"/>
            </a:br>
            <a:r>
              <a:rPr lang="en-IN" sz="1800" b="0" dirty="0"/>
              <a:t>CHRIST Deemed to be University</a:t>
            </a:r>
            <a:br>
              <a:rPr lang="en-IN" sz="1800" b="0" dirty="0"/>
            </a:br>
            <a:r>
              <a:rPr lang="en-IN" sz="1800" b="0" dirty="0"/>
              <a:t>Bangalore</a:t>
            </a:r>
            <a:br>
              <a:rPr lang="en-IN" sz="1800" b="0" dirty="0"/>
            </a:br>
            <a:endParaRPr lang="en-IN" sz="1800" b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Suggestions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  <a:latin typeface="Times New Roman" panose="02020503050405090304"/>
              </a:rPr>
              <a:t>Models should present results using actual experimental data from the conducted experiments.</a:t>
            </a:r>
            <a:endParaRPr lang="en-US" sz="1800">
              <a:solidFill>
                <a:schemeClr val="tx1"/>
              </a:solidFill>
              <a:latin typeface="Times New Roman" panose="02020503050405090304"/>
            </a:endParaRP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  <a:latin typeface="Times New Roman" panose="02020503050405090304"/>
              </a:rPr>
              <a:t>All results should be presented in table format for clear comparison and analysis.</a:t>
            </a:r>
            <a:endParaRPr lang="en-GB" sz="1800">
              <a:solidFill>
                <a:schemeClr val="tx1"/>
              </a:solidFill>
              <a:latin typeface="Times New Roman" panose="02020503050405090304"/>
            </a:endParaRP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  <a:latin typeface="Times New Roman" panose="02020503050405090304"/>
              </a:rPr>
              <a:t>Slide numbers must be displayed on all slides for easy navigation.</a:t>
            </a:r>
            <a:endParaRPr lang="en-GB" sz="1800">
              <a:solidFill>
                <a:schemeClr val="tx1"/>
              </a:solidFill>
              <a:latin typeface="Times New Roman" panose="02020503050405090304"/>
            </a:endParaRP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  <a:latin typeface="Times New Roman" panose="02020503050405090304"/>
              </a:rPr>
              <a:t>A comprehensive section on future work and next steps should be included in the presentation.</a:t>
            </a:r>
            <a:endParaRPr lang="en-GB" sz="1800" dirty="0">
              <a:solidFill>
                <a:schemeClr val="tx1"/>
              </a:solidFill>
              <a:latin typeface="Times New Roman" panose="02020503050405090304"/>
            </a:endParaRP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GB" sz="1800" dirty="0">
              <a:latin typeface="Times New Roman" panose="020205030504050903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8302451" y="6091812"/>
            <a:ext cx="52753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GB" dirty="0"/>
              <a:t>01</a:t>
            </a:r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503050405090304"/>
              </a:rPr>
              <a:t>Agenda</a:t>
            </a:r>
            <a:endParaRPr lang="en-IN" dirty="0">
              <a:latin typeface="Times New Roman" panose="02020503050405090304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latin typeface="Times New Roman" panose="02020503050405090304"/>
              </a:rPr>
              <a:t> Dataset &amp; Temporal Features </a:t>
            </a:r>
            <a:endParaRPr lang="en-IN" sz="1800" dirty="0">
              <a:latin typeface="Times New Roman" panose="02020503050405090304"/>
            </a:endParaRP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latin typeface="Times New Roman" panose="02020503050405090304"/>
              </a:rPr>
              <a:t> Modelling Strategy &amp; Metrics </a:t>
            </a:r>
            <a:endParaRPr lang="en-IN" sz="1800">
              <a:latin typeface="Times New Roman" panose="02020503050405090304"/>
            </a:endParaRP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latin typeface="Times New Roman" panose="02020503050405090304"/>
              </a:rPr>
              <a:t> Extended Model Comparison Results </a:t>
            </a:r>
            <a:endParaRPr lang="en-IN" sz="1800">
              <a:latin typeface="Times New Roman" panose="02020503050405090304"/>
            </a:endParaRP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latin typeface="Times New Roman" panose="02020503050405090304"/>
              </a:rPr>
              <a:t> Temporal Pattern Insights </a:t>
            </a:r>
            <a:endParaRPr lang="en-IN" sz="1800">
              <a:latin typeface="Times New Roman" panose="02020503050405090304"/>
            </a:endParaRP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latin typeface="Times New Roman" panose="02020503050405090304"/>
              </a:rPr>
              <a:t> Key Findings &amp; Recommendations </a:t>
            </a:r>
            <a:endParaRPr lang="en-IN" sz="1800">
              <a:latin typeface="Times New Roman" panose="02020503050405090304"/>
            </a:endParaRP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latin typeface="Times New Roman" panose="02020503050405090304"/>
              </a:rPr>
              <a:t> Conclusions &amp; Next Steps </a:t>
            </a:r>
            <a:endParaRPr lang="en-IN" sz="1800" dirty="0">
              <a:latin typeface="Times New Roman" panose="020205030504050903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" name="TextBox 3"/>
          <p:cNvSpPr txBox="1"/>
          <p:nvPr/>
        </p:nvSpPr>
        <p:spPr>
          <a:xfrm>
            <a:off x="8390373" y="6054131"/>
            <a:ext cx="41449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GB" dirty="0"/>
              <a:t>02</a:t>
            </a:r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503050405090304"/>
              </a:rPr>
              <a:t>Dataset &amp; Features</a:t>
            </a:r>
            <a:endParaRPr lang="en-GB" dirty="0">
              <a:latin typeface="Times New Roman" panose="02020503050405090304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20997"/>
            <a:ext cx="8520600" cy="4970836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latin typeface="Times New Roman" panose="02020503050405090304"/>
              </a:rPr>
              <a:t>Source: Bangalore Traffic Dataset (historical congestion records)</a:t>
            </a:r>
            <a:endParaRPr lang="en-GB" sz="1800">
              <a:latin typeface="Times New Roman" panose="02020503050405090304"/>
              <a:hlinkClick r:id="" action="ppaction://noaction"/>
            </a:endParaRP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latin typeface="Times New Roman" panose="02020503050405090304"/>
              </a:rPr>
              <a:t>Core features: Average Speed, Travel Time Index, Congestion Level, </a:t>
            </a:r>
            <a:r>
              <a:rPr lang="en-GB" sz="1800" dirty="0">
                <a:latin typeface="Times New Roman" panose="02020503050405090304"/>
                <a:cs typeface="Arial" panose="020B0604020202090204"/>
              </a:rPr>
              <a:t>Road Capacity Utilization, Incident Reports, Environmental Impact, Public Transport Usage, Traffic Signal Compliance, Parking Usage, Pedestrian &amp; Cyclist Count</a:t>
            </a:r>
            <a:endParaRPr lang="en-GB" sz="1800" dirty="0">
              <a:latin typeface="Times New Roman" panose="02020503050405090304"/>
            </a:endParaRP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latin typeface="Times New Roman" panose="02020503050405090304"/>
                <a:ea typeface="Calibri"/>
                <a:cs typeface="Arial" panose="020B0604020202090204"/>
              </a:rPr>
              <a:t>Target variable: Traffic Volume</a:t>
            </a:r>
            <a:endParaRPr lang="en-GB" sz="1800" dirty="0">
              <a:latin typeface="Times New Roman" panose="02020503050405090304"/>
            </a:endParaRP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latin typeface="Times New Roman" panose="02020503050405090304"/>
                <a:ea typeface="Calibri"/>
                <a:cs typeface="Arial" panose="020B0604020202090204"/>
              </a:rPr>
              <a:t>Train / test split: 80% train, 20% test </a:t>
            </a:r>
            <a:endParaRPr lang="en-GB" sz="1800" dirty="0">
              <a:latin typeface="Times New Roman" panose="02020503050405090304"/>
            </a:endParaRPr>
          </a:p>
          <a:p>
            <a:pPr marL="88900" indent="0">
              <a:buNone/>
            </a:pPr>
            <a:endParaRPr lang="en-GB" sz="1600" dirty="0">
              <a:latin typeface="Times New Roman" panose="02020503050405090304"/>
              <a:ea typeface="Calibri"/>
              <a:cs typeface="Arial" panose="020B0604020202090204"/>
            </a:endParaRPr>
          </a:p>
          <a:p>
            <a:endParaRPr lang="en-GB" sz="1600" dirty="0">
              <a:latin typeface="Times New Roman" panose="02020503050405090304"/>
              <a:ea typeface="Calibri"/>
              <a:cs typeface="Arial" panose="020B0604020202090204"/>
            </a:endParaRPr>
          </a:p>
          <a:p>
            <a:endParaRPr lang="en-GB" sz="1600" dirty="0">
              <a:latin typeface="Times New Roman" panose="02020503050405090304"/>
              <a:ea typeface="Calibri"/>
              <a:cs typeface="Arial" panose="020B0604020202090204"/>
            </a:endParaRPr>
          </a:p>
          <a:p>
            <a:endParaRPr lang="en-GB" sz="1600" dirty="0">
              <a:latin typeface="Times New Roman" panose="02020503050405090304"/>
              <a:ea typeface="Calibri"/>
              <a:cs typeface="Arial" panose="020B0604020202090204"/>
            </a:endParaRPr>
          </a:p>
          <a:p>
            <a:endParaRPr lang="en-GB" sz="1600" dirty="0">
              <a:latin typeface="Times New Roman" panose="02020503050405090304"/>
              <a:ea typeface="Calibri"/>
              <a:cs typeface="Arial" panose="020B0604020202090204"/>
            </a:endParaRPr>
          </a:p>
          <a:p>
            <a:endParaRPr lang="en-GB" sz="1600" dirty="0">
              <a:latin typeface="Times New Roman" panose="02020503050405090304"/>
              <a:ea typeface="Calibri"/>
              <a:cs typeface="Arial" panose="020B0604020202090204"/>
            </a:endParaRPr>
          </a:p>
          <a:p>
            <a:endParaRPr lang="en-GB" sz="1600" dirty="0">
              <a:latin typeface="Times New Roman" panose="02020503050405090304"/>
              <a:ea typeface="Calibri"/>
              <a:cs typeface="Arial" panose="020B0604020202090204"/>
            </a:endParaRPr>
          </a:p>
          <a:p>
            <a:endParaRPr lang="en-GB" sz="1600" dirty="0">
              <a:latin typeface="Times New Roman" panose="02020503050405090304"/>
              <a:ea typeface="Calibri"/>
              <a:cs typeface="Arial" panose="020B0604020202090204"/>
            </a:endParaRPr>
          </a:p>
          <a:p>
            <a:endParaRPr lang="en-GB" sz="1600" dirty="0">
              <a:latin typeface="Times New Roman" panose="02020503050405090304"/>
              <a:ea typeface="Calibri"/>
              <a:cs typeface="Arial" panose="020B0604020202090204"/>
            </a:endParaRPr>
          </a:p>
          <a:p>
            <a:endParaRPr lang="en-GB" sz="1600" dirty="0">
              <a:latin typeface="Times New Roman" panose="02020503050405090304"/>
              <a:ea typeface="Calibri"/>
              <a:cs typeface="Arial" panose="020B0604020202090204"/>
            </a:endParaRPr>
          </a:p>
          <a:p>
            <a:endParaRPr lang="en-GB" sz="1600" dirty="0">
              <a:latin typeface="Times New Roman" panose="02020503050405090304"/>
              <a:ea typeface="Calibri"/>
              <a:cs typeface="Arial" panose="020B0604020202090204"/>
            </a:endParaRPr>
          </a:p>
          <a:p>
            <a:endParaRPr lang="en-GB" sz="1600" dirty="0">
              <a:latin typeface="Times New Roman" panose="02020503050405090304"/>
              <a:ea typeface="Calibri"/>
              <a:cs typeface="Arial" panose="020B0604020202090204"/>
            </a:endParaRPr>
          </a:p>
          <a:p>
            <a:pPr marL="88900" indent="0">
              <a:buNone/>
            </a:pPr>
            <a:r>
              <a:rPr lang="en-GB" dirty="0"/>
              <a:t>                                                                                                            </a:t>
            </a:r>
            <a:endParaRPr lang="en-GB" sz="1400" dirty="0">
              <a:latin typeface="Times New Roman" panose="02020503050405090304"/>
            </a:endParaRPr>
          </a:p>
          <a:p>
            <a:pPr marL="8890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8402933" y="6016450"/>
            <a:ext cx="38937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GB" dirty="0"/>
              <a:t>03</a:t>
            </a:r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503050405090304"/>
              </a:rPr>
              <a:t>Temporal Context Features</a:t>
            </a:r>
            <a:endParaRPr lang="en-GB" dirty="0">
              <a:latin typeface="Times New Roman" panose="02020503050405090304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  <a:latin typeface="Times New Roman" panose="02020503050405090304"/>
              </a:rPr>
              <a:t>Date parsed into Day of Week, Month, ISO Week Number</a:t>
            </a:r>
            <a:endParaRPr lang="en-US" sz="1800">
              <a:solidFill>
                <a:schemeClr val="tx1"/>
              </a:solidFill>
              <a:latin typeface="Times New Roman" panose="02020503050405090304"/>
            </a:endParaRP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  <a:latin typeface="Times New Roman" panose="02020503050405090304"/>
              </a:rPr>
              <a:t>Short-term horizon: next-day traffic volume forecast (t+1)</a:t>
            </a:r>
            <a:endParaRPr lang="en-GB" sz="1800">
              <a:solidFill>
                <a:schemeClr val="tx1"/>
              </a:solidFill>
              <a:latin typeface="Times New Roman" panose="02020503050405090304"/>
            </a:endParaRP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  <a:latin typeface="Times New Roman" panose="02020503050405090304"/>
              </a:rPr>
              <a:t>Long-term horizon: next-week traffic volume forecast (t+7)</a:t>
            </a:r>
            <a:endParaRPr lang="en-GB" sz="1800">
              <a:solidFill>
                <a:schemeClr val="tx1"/>
              </a:solidFill>
              <a:latin typeface="Times New Roman" panose="02020503050405090304"/>
            </a:endParaRP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  <a:latin typeface="Times New Roman" panose="02020503050405090304"/>
              </a:rPr>
              <a:t>Temporal features appended to feature matrix for contextual learning</a:t>
            </a:r>
            <a:endParaRPr lang="en-GB" sz="1800">
              <a:solidFill>
                <a:schemeClr val="tx1"/>
              </a:solidFill>
              <a:latin typeface="Times New Roman" panose="02020503050405090304"/>
            </a:endParaRP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  <a:latin typeface="Times New Roman" panose="02020503050405090304"/>
              </a:rPr>
              <a:t>Enables investigation of short vs. long horizon accuracy</a:t>
            </a:r>
            <a:endParaRPr lang="en-GB" dirty="0">
              <a:solidFill>
                <a:schemeClr val="tx1"/>
              </a:solidFill>
              <a:latin typeface="Times New Roman" panose="02020503050405090304"/>
            </a:endParaRPr>
          </a:p>
          <a:p>
            <a:pPr marL="374650" indent="-285750">
              <a:lnSpc>
                <a:spcPct val="150000"/>
              </a:lnSpc>
            </a:pPr>
            <a:endParaRPr lang="en-GB" sz="1800" dirty="0">
              <a:solidFill>
                <a:schemeClr val="tx1"/>
              </a:solidFill>
              <a:latin typeface="Times New Roman" panose="02020503050405090304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8465736" y="5991329"/>
            <a:ext cx="46473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GB" dirty="0"/>
              <a:t>04</a:t>
            </a:r>
            <a:endParaRPr lang="en-GB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503050405090304"/>
              </a:rPr>
              <a:t>Modelling Strategy</a:t>
            </a:r>
            <a:endParaRPr lang="en-GB" dirty="0">
              <a:latin typeface="Times New Roman" panose="02020503050405090304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latin typeface="Times New Roman" panose="02020503050405090304"/>
              </a:rPr>
              <a:t>Linear baselines: Linear Regression, Ridge (L2), Lasso (L1), </a:t>
            </a:r>
            <a:r>
              <a:rPr lang="en-GB" sz="1800" err="1">
                <a:latin typeface="Times New Roman" panose="02020503050405090304"/>
              </a:rPr>
              <a:t>ElasticNet</a:t>
            </a:r>
            <a:r>
              <a:rPr lang="en-GB" sz="1800" dirty="0">
                <a:latin typeface="Times New Roman" panose="02020503050405090304"/>
              </a:rPr>
              <a:t> (L1+L2)</a:t>
            </a:r>
            <a:endParaRPr lang="en-GB" sz="1800" b="1" dirty="0">
              <a:latin typeface="Times New Roman" panose="02020503050405090304"/>
            </a:endParaRP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latin typeface="Times New Roman" panose="02020503050405090304"/>
              </a:rPr>
              <a:t>Support Vector Regression: RBF and Linear kernels</a:t>
            </a:r>
            <a:endParaRPr lang="en-GB" sz="1800" dirty="0">
              <a:latin typeface="Times New Roman" panose="02020503050405090304"/>
            </a:endParaRP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>
                <a:latin typeface="Times New Roman" panose="02020503050405090304"/>
              </a:rPr>
              <a:t>Instance-based: K-Nearest Neighbours (k = 3, 5, 11)</a:t>
            </a:r>
            <a:endParaRPr lang="en-GB" sz="1800" dirty="0">
              <a:latin typeface="Times New Roman" panose="02020503050405090304"/>
            </a:endParaRP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latin typeface="Times New Roman" panose="02020503050405090304"/>
              </a:rPr>
              <a:t>Tree-based learners: Decision Tree, Random Forest, Extra Trees, Gradient Boosting</a:t>
            </a:r>
            <a:endParaRPr lang="en-GB" sz="1800" dirty="0">
              <a:latin typeface="Times New Roman" panose="02020503050405090304"/>
            </a:endParaRP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latin typeface="Times New Roman" panose="02020503050405090304"/>
              </a:rPr>
              <a:t>Sequential model: LSTM (16 &amp; 32 units, conditional on TensorFlow availability)</a:t>
            </a:r>
            <a:endParaRPr lang="en-GB" sz="1800" dirty="0">
              <a:latin typeface="Times New Roman" panose="02020503050405090304"/>
            </a:endParaRP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latin typeface="Times New Roman" panose="02020503050405090304"/>
              </a:rPr>
              <a:t>Architectural variants assessed for sensitivity analysis</a:t>
            </a:r>
            <a:endParaRPr lang="en-GB" sz="1800" dirty="0">
              <a:latin typeface="Times New Roman" panose="02020503050405090304"/>
            </a:endParaRP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GB" sz="1800" b="1" dirty="0">
              <a:latin typeface="Times New Roman" panose="020205030504050903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8446895" y="6003890"/>
            <a:ext cx="40193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GB" dirty="0"/>
              <a:t>05</a:t>
            </a:r>
            <a:endParaRPr lang="en-GB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503050405090304"/>
              </a:rPr>
              <a:t>Evaluation Metrics</a:t>
            </a:r>
            <a:endParaRPr lang="en-GB" dirty="0">
              <a:latin typeface="Times New Roman" panose="02020503050405090304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latin typeface="Times New Roman" panose="02020503050405090304"/>
              </a:rPr>
              <a:t>Accuracy: R², RMSE, MAPE</a:t>
            </a:r>
            <a:endParaRPr lang="en-GB" sz="1800" b="1" dirty="0">
              <a:latin typeface="Times New Roman" panose="02020503050405090304"/>
            </a:endParaRP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latin typeface="Times New Roman" panose="02020503050405090304"/>
              </a:rPr>
              <a:t>Efficiency: Training time per architecture (seconds)</a:t>
            </a:r>
            <a:endParaRPr lang="en-GB" sz="1800" dirty="0">
              <a:latin typeface="Times New Roman" panose="02020503050405090304"/>
            </a:endParaRP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latin typeface="Times New Roman" panose="02020503050405090304"/>
              </a:rPr>
              <a:t>Robustness: Sensitivity = ΔR² between consecutive architectural variants</a:t>
            </a:r>
            <a:endParaRPr lang="en-GB" sz="1800" dirty="0">
              <a:latin typeface="Times New Roman" panose="02020503050405090304"/>
            </a:endParaRP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latin typeface="Times New Roman" panose="02020503050405090304"/>
              </a:rPr>
              <a:t>Composite Utility Score = 0.7·R² + 0.2·(1 - </a:t>
            </a:r>
            <a:r>
              <a:rPr lang="en-GB" sz="1800" err="1">
                <a:latin typeface="Times New Roman" panose="02020503050405090304"/>
              </a:rPr>
              <a:t>TrainTime</a:t>
            </a:r>
            <a:r>
              <a:rPr lang="en-GB" sz="1800" dirty="0">
                <a:latin typeface="Times New Roman" panose="02020503050405090304"/>
              </a:rPr>
              <a:t>/max) + 0.1·(1 - Sensitivity)</a:t>
            </a:r>
            <a:endParaRPr lang="en-GB" sz="1800" dirty="0">
              <a:latin typeface="Times New Roman" panose="02020503050405090304"/>
            </a:endParaRP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latin typeface="Times New Roman" panose="02020503050405090304"/>
              </a:rPr>
              <a:t>Goal: Identify model with best balance of accuracy, speed, and stability</a:t>
            </a:r>
            <a:endParaRPr lang="en-GB" dirty="0">
              <a:latin typeface="Times New Roman" panose="02020503050405090304"/>
            </a:endParaRPr>
          </a:p>
          <a:p>
            <a:pPr>
              <a:lnSpc>
                <a:spcPct val="150000"/>
              </a:lnSpc>
            </a:pPr>
            <a:endParaRPr lang="en-GB" sz="1800" dirty="0">
              <a:latin typeface="Times New Roman" panose="02020503050405090304"/>
            </a:endParaRPr>
          </a:p>
          <a:p>
            <a:pPr>
              <a:lnSpc>
                <a:spcPct val="150000"/>
              </a:lnSpc>
            </a:pPr>
            <a:endParaRPr lang="en-GB" sz="1800" b="1" dirty="0">
              <a:latin typeface="Times New Roman" panose="020205030504050903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8365252" y="6003890"/>
            <a:ext cx="628021" cy="3140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GB" dirty="0"/>
              <a:t>07</a:t>
            </a:r>
            <a:endParaRPr lang="en-GB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593367"/>
            <a:ext cx="8520600" cy="548793"/>
          </a:xfrm>
        </p:spPr>
        <p:txBody>
          <a:bodyPr/>
          <a:lstStyle/>
          <a:p>
            <a:r>
              <a:rPr lang="en-GB" dirty="0">
                <a:latin typeface="Times New Roman" panose="02020503050405090304"/>
              </a:rPr>
              <a:t>Model Comparison</a:t>
            </a:r>
            <a:endParaRPr lang="en-GB" dirty="0">
              <a:latin typeface="Times New Roman" panose="02020503050405090304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7" name="Picture 6" descr="A table of numbers and symbol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89" y="1143678"/>
            <a:ext cx="8853511" cy="51516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77329" y="6343022"/>
            <a:ext cx="55265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GB" dirty="0"/>
              <a:t>08</a:t>
            </a:r>
            <a:endParaRPr lang="en-GB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503050405090304"/>
              </a:rPr>
              <a:t>Model Family Performance Snapshot</a:t>
            </a:r>
            <a:endParaRPr lang="en-GB" dirty="0">
              <a:latin typeface="Times New Roman" panose="02020503050405090304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latin typeface="Times New Roman" panose="02020503050405090304"/>
              </a:rPr>
              <a:t>Random Forest (50 trees): R²=1.000, Train=0.24s, ΔR²=7.6e-07, Utility=0.983</a:t>
            </a:r>
            <a:endParaRPr lang="en-US"/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>
                <a:latin typeface="Times New Roman" panose="02020503050405090304"/>
              </a:rPr>
              <a:t>Ridge (alpha=1.0): R²≈1.000, Train=0.001s, baseline regularised linear model</a:t>
            </a:r>
            <a:endParaRPr lang="en-GB" sz="1800" dirty="0">
              <a:latin typeface="Times New Roman" panose="02020503050405090304"/>
            </a:endParaRP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latin typeface="Times New Roman" panose="02020503050405090304"/>
              </a:rPr>
              <a:t>Gradient Boosting (100 estimators): R²=1.000, captures subtle nonlinear residuals with moderate training time</a:t>
            </a:r>
            <a:endParaRPr lang="en-GB" sz="1800" dirty="0">
              <a:latin typeface="Times New Roman" panose="02020503050405090304"/>
            </a:endParaRP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latin typeface="Times New Roman" panose="02020503050405090304"/>
              </a:rPr>
              <a:t>Extra Trees (50 trees): R²=1.000, fastest ensemble training, complementary to Random Forest</a:t>
            </a:r>
            <a:endParaRPr lang="en-GB" sz="1800" dirty="0">
              <a:latin typeface="Times New Roman" panose="02020503050405090304"/>
            </a:endParaRP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latin typeface="Times New Roman" panose="02020503050405090304"/>
              </a:rPr>
              <a:t>SVR (kernel=</a:t>
            </a:r>
            <a:r>
              <a:rPr lang="en-GB" sz="1800" err="1">
                <a:latin typeface="Times New Roman" panose="02020503050405090304"/>
              </a:rPr>
              <a:t>linear,C</a:t>
            </a:r>
            <a:r>
              <a:rPr lang="en-GB" sz="1800" dirty="0">
                <a:latin typeface="Times New Roman" panose="02020503050405090304"/>
              </a:rPr>
              <a:t>=1.0): R²=1.000, strong nonlinear margin-based baseline</a:t>
            </a:r>
            <a:endParaRPr lang="en-GB" sz="1800" dirty="0">
              <a:latin typeface="Times New Roman" panose="02020503050405090304"/>
            </a:endParaRP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>
                <a:latin typeface="Times New Roman" panose="02020503050405090304"/>
              </a:rPr>
              <a:t>Lasso (alpha=0.1): Performs feature selection; matches linear baselines with sparse coefficients</a:t>
            </a:r>
            <a:endParaRPr lang="en-GB" sz="1800">
              <a:latin typeface="Times New Roman" panose="02020503050405090304"/>
            </a:endParaRPr>
          </a:p>
          <a:p>
            <a:pPr marL="8890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8528538" y="6054131"/>
            <a:ext cx="43961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GB" dirty="0"/>
              <a:t>09</a:t>
            </a:r>
            <a:endParaRPr lang="en-GB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503050405090304"/>
              </a:rPr>
              <a:t>Accuracy (R²) by Model &amp; Architecture</a:t>
            </a:r>
            <a:endParaRPr lang="en-US" dirty="0">
              <a:latin typeface="Times New Roman" panose="02020503050405090304"/>
            </a:endParaRPr>
          </a:p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7" name="Picture 6" descr="A graph with text and number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3087"/>
            <a:ext cx="9144000" cy="49875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21775" y="6091814"/>
            <a:ext cx="65314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GB" dirty="0"/>
              <a:t>10</a:t>
            </a:r>
            <a:endParaRPr lang="en-GB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503050405090304"/>
              </a:rPr>
              <a:t>Training Time by Model &amp; Architecture</a:t>
            </a:r>
            <a:endParaRPr lang="en-US" dirty="0">
              <a:latin typeface="Times New Roman" panose="02020503050405090304"/>
            </a:endParaRPr>
          </a:p>
          <a:p>
            <a:endParaRPr lang="en-GB" b="0" dirty="0"/>
          </a:p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" name="Picture 4" descr="A graph of a training time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60457"/>
            <a:ext cx="9144000" cy="50443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1340" y="6079252"/>
            <a:ext cx="43961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GB" dirty="0"/>
              <a:t>11</a:t>
            </a:r>
            <a:endParaRPr lang="en-GB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503050405090304"/>
              </a:rPr>
              <a:t>Sensitivity to Architectural Change</a:t>
            </a:r>
            <a:endParaRPr lang="en-US">
              <a:latin typeface="Times New Roman" panose="02020503050405090304"/>
            </a:endParaRPr>
          </a:p>
          <a:p>
            <a:endParaRPr lang="en-GB" b="0" dirty="0"/>
          </a:p>
          <a:p>
            <a:endParaRPr lang="en-GB" b="0" dirty="0"/>
          </a:p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6" name="Picture 5" descr="A graph with text and number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28882"/>
            <a:ext cx="9144000" cy="50254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78780" y="6079252"/>
            <a:ext cx="54009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GB" dirty="0"/>
              <a:t>12</a:t>
            </a:r>
            <a:endParaRPr lang="en-GB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503050405090304"/>
              </a:rPr>
              <a:t>Utility Score by Model &amp; Architecture</a:t>
            </a:r>
            <a:endParaRPr lang="en-US" dirty="0">
              <a:latin typeface="Times New Roman" panose="02020503050405090304"/>
            </a:endParaRPr>
          </a:p>
          <a:p>
            <a:endParaRPr lang="en-GB" dirty="0"/>
          </a:p>
          <a:p>
            <a:endParaRPr lang="en-GB" b="0" dirty="0"/>
          </a:p>
          <a:p>
            <a:endParaRPr lang="en-GB" b="0" dirty="0"/>
          </a:p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" name="Picture 4" descr="A graph of utility score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817" y="1153103"/>
            <a:ext cx="8834570" cy="50632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90856" y="6079252"/>
            <a:ext cx="55265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GB" dirty="0"/>
              <a:t>13</a:t>
            </a:r>
            <a:endParaRPr lang="en-GB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503050405090304"/>
              </a:rPr>
              <a:t>Temporal Pattern Insights</a:t>
            </a:r>
            <a:endParaRPr lang="en-US" dirty="0">
              <a:latin typeface="Times New Roman" panose="02020503050405090304"/>
            </a:endParaRPr>
          </a:p>
          <a:p>
            <a:endParaRPr lang="en-GB" dirty="0"/>
          </a:p>
          <a:p>
            <a:endParaRPr lang="en-GB" b="0" dirty="0"/>
          </a:p>
          <a:p>
            <a:endParaRPr lang="en-GB" b="0" dirty="0"/>
          </a:p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392188"/>
            <a:ext cx="8476639" cy="4699645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latin typeface="Times New Roman" panose="02020503050405090304"/>
              </a:rPr>
              <a:t>Short-term (next day) prediction R²: 0.092, RMSE: 12412.7</a:t>
            </a:r>
            <a:endParaRPr lang="en-US"/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latin typeface="Times New Roman" panose="02020503050405090304"/>
              </a:rPr>
              <a:t>Long-term (next week) prediction R²: 0.847, RMSE: 3124.2</a:t>
            </a:r>
            <a:endParaRPr lang="en-GB" sz="1800" dirty="0">
              <a:latin typeface="Times New Roman" panose="02020503050405090304"/>
            </a:endParaRP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latin typeface="Times New Roman" panose="02020503050405090304"/>
              </a:rPr>
              <a:t>Long-term predictions are as accurate as short-term, suggesting strong periodic patterns.</a:t>
            </a:r>
            <a:endParaRPr lang="en-GB" sz="1800" dirty="0">
              <a:latin typeface="Times New Roman" panose="02020503050405090304"/>
            </a:endParaRP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GB" sz="1800" dirty="0">
                <a:latin typeface="Times New Roman" panose="02020503050405090304"/>
              </a:rPr>
              <a:t>Including temporal context (day of week, month) as features helps both short- and long-term prediction.</a:t>
            </a:r>
            <a:endParaRPr lang="en-GB" sz="1800" dirty="0">
              <a:latin typeface="Times New Roman" panose="02020503050405090304"/>
            </a:endParaRPr>
          </a:p>
          <a:p>
            <a:pPr marL="8890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8440615" y="6016451"/>
            <a:ext cx="577780" cy="3140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GB" dirty="0"/>
              <a:t>14</a:t>
            </a:r>
            <a:endParaRPr lang="en-GB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503050405090304"/>
              </a:rPr>
              <a:t>Daily Traffic Volume Trend</a:t>
            </a:r>
            <a:endParaRPr lang="en-US" dirty="0">
              <a:latin typeface="Times New Roman" panose="02020503050405090304"/>
            </a:endParaRPr>
          </a:p>
          <a:p>
            <a:endParaRPr lang="en-GB" dirty="0"/>
          </a:p>
          <a:p>
            <a:endParaRPr lang="en-GB" b="0" dirty="0"/>
          </a:p>
          <a:p>
            <a:endParaRPr lang="en-GB" b="0" dirty="0"/>
          </a:p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8900" indent="0">
              <a:lnSpc>
                <a:spcPct val="150000"/>
              </a:lnSpc>
              <a:buNone/>
            </a:pPr>
            <a:endParaRPr lang="en-GB" sz="1800" dirty="0">
              <a:latin typeface="Times New Roman" panose="02020503050405090304"/>
            </a:endParaRPr>
          </a:p>
          <a:p>
            <a:pPr marL="8890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" name="Picture 4" descr="A blue line graph with numbers and text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49682"/>
            <a:ext cx="9005072" cy="45290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78297" y="6054131"/>
            <a:ext cx="54009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GB" dirty="0"/>
              <a:t>15</a:t>
            </a:r>
            <a:endParaRPr lang="en-GB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503050405090304"/>
              </a:rPr>
              <a:t>Weekly Traffic Volume Trend</a:t>
            </a:r>
            <a:endParaRPr lang="en-US" dirty="0">
              <a:latin typeface="Times New Roman" panose="02020503050405090304"/>
            </a:endParaRPr>
          </a:p>
          <a:p>
            <a:endParaRPr lang="en-GB" b="0" dirty="0"/>
          </a:p>
          <a:p>
            <a:endParaRPr lang="en-GB" dirty="0"/>
          </a:p>
          <a:p>
            <a:endParaRPr lang="en-GB" b="0" dirty="0"/>
          </a:p>
          <a:p>
            <a:endParaRPr lang="en-GB" b="0" dirty="0"/>
          </a:p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8900" indent="0">
              <a:lnSpc>
                <a:spcPct val="150000"/>
              </a:lnSpc>
              <a:buNone/>
            </a:pPr>
            <a:endParaRPr lang="en-GB" sz="1800" dirty="0">
              <a:latin typeface="Times New Roman" panose="02020503050405090304"/>
            </a:endParaRPr>
          </a:p>
          <a:p>
            <a:pPr marL="8890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7" name="Picture 6" descr="A graph showing a number of traffic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154" y="1536560"/>
            <a:ext cx="8034494" cy="41365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53175" y="6003890"/>
            <a:ext cx="628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GB" dirty="0"/>
              <a:t>16</a:t>
            </a:r>
            <a:endParaRPr lang="en-GB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503050405090304"/>
              </a:rPr>
              <a:t>Monthly Traffic Volume Trend</a:t>
            </a:r>
            <a:endParaRPr lang="en-US" dirty="0">
              <a:latin typeface="Times New Roman" panose="02020503050405090304"/>
            </a:endParaRPr>
          </a:p>
          <a:p>
            <a:endParaRPr lang="en-GB" b="0" dirty="0"/>
          </a:p>
          <a:p>
            <a:endParaRPr lang="en-GB" b="0" dirty="0"/>
          </a:p>
          <a:p>
            <a:endParaRPr lang="en-GB" dirty="0"/>
          </a:p>
          <a:p>
            <a:endParaRPr lang="en-GB" b="0" dirty="0"/>
          </a:p>
          <a:p>
            <a:endParaRPr lang="en-GB" b="0" dirty="0"/>
          </a:p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8900" indent="0">
              <a:lnSpc>
                <a:spcPct val="150000"/>
              </a:lnSpc>
              <a:buNone/>
            </a:pPr>
            <a:endParaRPr lang="en-GB" sz="1800" dirty="0">
              <a:latin typeface="Times New Roman" panose="02020503050405090304"/>
            </a:endParaRPr>
          </a:p>
          <a:p>
            <a:pPr marL="8890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" name="Picture 4" descr="A graph of blue bar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884" y="1536628"/>
            <a:ext cx="8283065" cy="43151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53659" y="5966208"/>
            <a:ext cx="51497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GB" dirty="0"/>
              <a:t>17</a:t>
            </a:r>
            <a:endParaRPr lang="en-GB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503050405090304"/>
              </a:rPr>
              <a:t>Short Term vs Long Term Prediction</a:t>
            </a:r>
            <a:endParaRPr lang="en-GB" dirty="0">
              <a:latin typeface="Times New Roman" panose="02020503050405090304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414" y="1540867"/>
            <a:ext cx="8406547" cy="45528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53175" y="6066692"/>
            <a:ext cx="56521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GB" dirty="0"/>
              <a:t>18</a:t>
            </a:r>
            <a:endParaRPr lang="en-GB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593367"/>
            <a:ext cx="8476639" cy="625336"/>
          </a:xfrm>
        </p:spPr>
        <p:txBody>
          <a:bodyPr/>
          <a:lstStyle/>
          <a:p>
            <a:r>
              <a:rPr lang="en-US" dirty="0">
                <a:latin typeface="Times New Roman" panose="02020503050405090304"/>
              </a:rPr>
              <a:t>Key Findings</a:t>
            </a:r>
            <a:br>
              <a:rPr lang="en-US" sz="2400" b="0" dirty="0"/>
            </a:br>
            <a:br>
              <a:rPr lang="en-US" sz="2400" dirty="0">
                <a:latin typeface="Times New Roman" panose="02020503050405090304"/>
              </a:rPr>
            </a:br>
            <a:r>
              <a:rPr lang="en-US" sz="2400" b="0" dirty="0"/>
              <a:t>•</a:t>
            </a:r>
            <a:r>
              <a:rPr lang="en-US" sz="1800" b="0" dirty="0">
                <a:latin typeface="Times New Roman" panose="02020503050405090304"/>
              </a:rPr>
              <a:t> Random Forest (50 trees): R²=1.000, RMSE=30.4, MAPE=0.000, Train=0.24s, ΔR²=7.6e-07, Utility=0.983</a:t>
            </a:r>
            <a:endParaRPr lang="en-US" sz="1800">
              <a:latin typeface="Times New Roman" panose="02020503050405090304"/>
            </a:endParaRPr>
          </a:p>
          <a:p>
            <a:pPr>
              <a:lnSpc>
                <a:spcPct val="150000"/>
              </a:lnSpc>
            </a:pPr>
            <a:r>
              <a:rPr lang="en-US" sz="1800" b="0" dirty="0">
                <a:latin typeface="Times New Roman" panose="02020503050405090304"/>
              </a:rPr>
              <a:t>• Ridge (alpha=1.0): R²≈1.000 with fastest training (0.001s) and zero sensitivity; ideal as stability baseline</a:t>
            </a:r>
            <a:endParaRPr lang="en-US" sz="1800" dirty="0">
              <a:latin typeface="Times New Roman" panose="02020503050405090304"/>
            </a:endParaRPr>
          </a:p>
          <a:p>
            <a:pPr>
              <a:lnSpc>
                <a:spcPct val="150000"/>
              </a:lnSpc>
            </a:pPr>
            <a:r>
              <a:rPr lang="en-US" sz="1800" b="0" dirty="0">
                <a:latin typeface="Times New Roman" panose="02020503050405090304"/>
              </a:rPr>
              <a:t>• Gradient Boosting matches Random Forest accuracy but is slower and more sensitive to configuration.</a:t>
            </a:r>
            <a:endParaRPr lang="en-US" sz="1800">
              <a:latin typeface="Times New Roman" panose="02020503050405090304"/>
            </a:endParaRPr>
          </a:p>
          <a:p>
            <a:pPr>
              <a:lnSpc>
                <a:spcPct val="150000"/>
              </a:lnSpc>
            </a:pPr>
            <a:r>
              <a:rPr lang="en-US" sz="1800" b="0" dirty="0">
                <a:latin typeface="Times New Roman" panose="02020503050405090304"/>
              </a:rPr>
              <a:t>• Extra Trees offers near-RF accuracy with the fastest ensemble training; useful for rapid retraining.</a:t>
            </a:r>
            <a:endParaRPr lang="en-US" sz="1800">
              <a:latin typeface="Times New Roman" panose="02020503050405090304"/>
            </a:endParaRPr>
          </a:p>
          <a:p>
            <a:pPr>
              <a:lnSpc>
                <a:spcPct val="150000"/>
              </a:lnSpc>
            </a:pPr>
            <a:r>
              <a:rPr lang="en-US" sz="1800" b="0" dirty="0">
                <a:latin typeface="Times New Roman" panose="02020503050405090304"/>
              </a:rPr>
              <a:t>• SVR (RBF) captures nonlinear structure but requires more tuning and scales poorly for large datasets.</a:t>
            </a:r>
            <a:endParaRPr lang="en-US" sz="1800">
              <a:latin typeface="Times New Roman" panose="02020503050405090304"/>
            </a:endParaRPr>
          </a:p>
          <a:p>
            <a:pPr>
              <a:lnSpc>
                <a:spcPct val="150000"/>
              </a:lnSpc>
            </a:pPr>
            <a:r>
              <a:rPr lang="en-US" sz="1800" b="0" dirty="0">
                <a:latin typeface="Times New Roman" panose="02020503050405090304"/>
              </a:rPr>
              <a:t>• Lasso/</a:t>
            </a:r>
            <a:r>
              <a:rPr lang="en-US" sz="1800" b="0" err="1">
                <a:latin typeface="Times New Roman" panose="02020503050405090304"/>
              </a:rPr>
              <a:t>ElasticNet</a:t>
            </a:r>
            <a:r>
              <a:rPr lang="en-US" sz="1800" b="0" dirty="0">
                <a:latin typeface="Times New Roman" panose="02020503050405090304"/>
              </a:rPr>
              <a:t> confirm which features drive linear </a:t>
            </a:r>
            <a:r>
              <a:rPr lang="en-US" sz="1800" b="0" err="1">
                <a:latin typeface="Times New Roman" panose="02020503050405090304"/>
              </a:rPr>
              <a:t>behaviour</a:t>
            </a:r>
            <a:r>
              <a:rPr lang="en-US" sz="1800" b="0" dirty="0">
                <a:latin typeface="Times New Roman" panose="02020503050405090304"/>
              </a:rPr>
              <a:t>; improvements from RF highlight nonlinear traffic dynamics.</a:t>
            </a:r>
            <a:endParaRPr lang="en-US" sz="1800" dirty="0">
              <a:latin typeface="Times New Roman" panose="02020503050405090304"/>
            </a:endParaRPr>
          </a:p>
          <a:p>
            <a:endParaRPr lang="en-US" sz="2400" dirty="0">
              <a:latin typeface="Times New Roman" panose="02020503050405090304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957836"/>
            <a:ext cx="8710112" cy="5064516"/>
          </a:xfrm>
        </p:spPr>
        <p:txBody>
          <a:bodyPr/>
          <a:lstStyle/>
          <a:p>
            <a:pPr marL="88900" indent="0">
              <a:lnSpc>
                <a:spcPct val="150000"/>
              </a:lnSpc>
              <a:buNone/>
            </a:pPr>
            <a:endParaRPr lang="en-US" sz="1800" dirty="0">
              <a:latin typeface="Times New Roman" panose="02020503050405090304" pitchFamily="18" charset="0"/>
              <a:ea typeface="Aptos" panose="020B0004020202020204" pitchFamily="34" charset="0"/>
              <a:cs typeface="Times New Roman" panose="02020503050405090304" pitchFamily="18" charset="0"/>
            </a:endParaRPr>
          </a:p>
          <a:p>
            <a:pPr marL="88900" indent="0">
              <a:buNone/>
              <a:tabLst>
                <a:tab pos="914400" algn="l"/>
              </a:tabLst>
            </a:pPr>
            <a:endParaRPr lang="en-US" sz="1800" dirty="0">
              <a:latin typeface="Times New Roman" panose="02020503050405090304" pitchFamily="18" charset="0"/>
              <a:ea typeface="Aptos" panose="020B0004020202020204" pitchFamily="34" charset="0"/>
              <a:cs typeface="Times New Roman" panose="02020503050405090304" pitchFamily="18" charset="0"/>
            </a:endParaRPr>
          </a:p>
          <a:p>
            <a:pPr marL="88900" indent="0">
              <a:buNone/>
              <a:tabLst>
                <a:tab pos="914400" algn="l"/>
              </a:tabLst>
            </a:pPr>
            <a:endParaRPr lang="en-US" sz="1800" dirty="0">
              <a:latin typeface="Times New Roman" panose="02020503050405090304" pitchFamily="18" charset="0"/>
              <a:ea typeface="Aptos" panose="020B0004020202020204" pitchFamily="34" charset="0"/>
              <a:cs typeface="Times New Roman" panose="02020503050405090304" pitchFamily="18" charset="0"/>
            </a:endParaRPr>
          </a:p>
          <a:p>
            <a:pPr marL="88900" indent="0">
              <a:buNone/>
              <a:tabLst>
                <a:tab pos="914400" algn="l"/>
              </a:tabLst>
            </a:pPr>
            <a:endParaRPr lang="en-US" sz="1800" dirty="0">
              <a:latin typeface="Times New Roman" panose="02020503050405090304" pitchFamily="18" charset="0"/>
              <a:ea typeface="Aptos" panose="020B0004020202020204" pitchFamily="34" charset="0"/>
              <a:cs typeface="Times New Roman" panose="02020503050405090304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" name="TextBox 3"/>
          <p:cNvSpPr txBox="1"/>
          <p:nvPr/>
        </p:nvSpPr>
        <p:spPr>
          <a:xfrm>
            <a:off x="8326725" y="6064414"/>
            <a:ext cx="39087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GB" dirty="0"/>
              <a:t>19</a:t>
            </a:r>
            <a:endParaRPr lang="en-GB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503050405090304"/>
                <a:ea typeface="Calibri"/>
                <a:cs typeface="Calibri"/>
              </a:rPr>
              <a:t>Why Random Forest Is Best For This Research</a:t>
            </a:r>
            <a:endParaRPr lang="en-US" dirty="0">
              <a:latin typeface="Times New Roman" panose="02020503050405090304"/>
            </a:endParaRPr>
          </a:p>
          <a:p>
            <a:endParaRPr lang="en-GB" sz="2400" b="0" dirty="0">
              <a:latin typeface="Times New Roman" panose="02020503050405090304"/>
              <a:ea typeface="Calibri"/>
              <a:cs typeface="Calibri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endParaRPr lang="en-GB" sz="1800" dirty="0">
              <a:latin typeface="Times New Roman" panose="02020503050405090304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8314880" y="6017035"/>
            <a:ext cx="42640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GB" dirty="0"/>
              <a:t>20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712051" y="1351913"/>
            <a:ext cx="7413639" cy="37820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IN" sz="1800" kern="1200" dirty="0">
                <a:solidFill>
                  <a:schemeClr val="tx1"/>
                </a:solidFill>
                <a:latin typeface="Times New Roman" panose="02020503050405090304"/>
                <a:ea typeface="Calibri"/>
              </a:rPr>
              <a:t> High accuracy on nonlinear traffic dynamics (congestion × capacity × incidents).</a:t>
            </a:r>
            <a:endParaRPr lang="en-IN" sz="1800" kern="1200" dirty="0">
              <a:solidFill>
                <a:schemeClr val="tx1"/>
              </a:solidFill>
              <a:latin typeface="Times New Roman" panose="02020503050405090304"/>
              <a:ea typeface="Calibri"/>
              <a:cs typeface="Times New Roman" panose="02020503050405090304"/>
            </a:endParaRPr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IN" sz="1800" kern="1200" dirty="0">
                <a:solidFill>
                  <a:schemeClr val="tx1"/>
                </a:solidFill>
                <a:latin typeface="Times New Roman" panose="02020503050405090304"/>
                <a:ea typeface="Calibri"/>
              </a:rPr>
              <a:t> Fast training and inference; scales to large datasets for rolling updates.</a:t>
            </a:r>
            <a:endParaRPr lang="en-IN" sz="1800" dirty="0">
              <a:solidFill>
                <a:schemeClr val="tx1"/>
              </a:solidFill>
              <a:latin typeface="Times New Roman" panose="02020503050405090304"/>
            </a:endParaRPr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IN" sz="1800" kern="1200" dirty="0">
                <a:solidFill>
                  <a:schemeClr val="tx1"/>
                </a:solidFill>
                <a:latin typeface="Times New Roman" panose="02020503050405090304"/>
                <a:ea typeface="Calibri"/>
              </a:rPr>
              <a:t> Low sensitivity to architectural changes (number of trees, depth).</a:t>
            </a:r>
            <a:endParaRPr lang="en-IN" sz="1800" dirty="0">
              <a:solidFill>
                <a:schemeClr val="tx1"/>
              </a:solidFill>
              <a:latin typeface="Times New Roman" panose="02020503050405090304"/>
            </a:endParaRPr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IN" sz="1800" kern="1200" dirty="0">
                <a:solidFill>
                  <a:schemeClr val="tx1"/>
                </a:solidFill>
                <a:latin typeface="Times New Roman" panose="02020503050405090304"/>
                <a:ea typeface="Calibri"/>
              </a:rPr>
              <a:t> Robust to outliers, missing values, and mixed feature effects.</a:t>
            </a:r>
            <a:endParaRPr lang="en-IN" sz="1800" dirty="0">
              <a:solidFill>
                <a:schemeClr val="tx1"/>
              </a:solidFill>
              <a:latin typeface="Times New Roman" panose="02020503050405090304"/>
            </a:endParaRPr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IN" sz="1800" kern="1200" dirty="0">
                <a:solidFill>
                  <a:schemeClr val="tx1"/>
                </a:solidFill>
                <a:latin typeface="Times New Roman" panose="02020503050405090304"/>
                <a:ea typeface="Calibri"/>
              </a:rPr>
              <a:t> Strong Utility Score: balances accuracy, speed, and robustness.</a:t>
            </a:r>
            <a:endParaRPr lang="en-IN" sz="1800" dirty="0">
              <a:solidFill>
                <a:schemeClr val="tx1"/>
              </a:solidFill>
              <a:latin typeface="Times New Roman" panose="02020503050405090304"/>
            </a:endParaRPr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IN" sz="1800" kern="1200" dirty="0">
                <a:solidFill>
                  <a:schemeClr val="tx1"/>
                </a:solidFill>
                <a:latin typeface="Times New Roman" panose="02020503050405090304"/>
                <a:ea typeface="Calibri"/>
              </a:rPr>
              <a:t> Production ready: stable defaults, straightforward tuning, explainable feature importances.</a:t>
            </a:r>
            <a:endParaRPr lang="en-IN" dirty="0">
              <a:solidFill>
                <a:schemeClr val="tx1"/>
              </a:solidFill>
              <a:latin typeface="Times New Roman" panose="02020503050405090304"/>
            </a:endParaRPr>
          </a:p>
          <a:p>
            <a:pPr marL="347345" indent="-347345">
              <a:lnSpc>
                <a:spcPct val="150000"/>
              </a:lnSpc>
              <a:buFont typeface="Arial" panose="020B0604020202090204"/>
              <a:buChar char="•"/>
            </a:pPr>
            <a:endParaRPr lang="en-IN" sz="1800" kern="1200" dirty="0">
              <a:solidFill>
                <a:schemeClr val="tx1"/>
              </a:solidFill>
              <a:latin typeface="Times New Roman" panose="02020503050405090304"/>
              <a:ea typeface="Calibri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503050405090304"/>
                <a:ea typeface="Calibri"/>
                <a:cs typeface="Calibri"/>
              </a:rPr>
              <a:t>Role of Ridge Regression (Why It Matters)</a:t>
            </a:r>
            <a:endParaRPr lang="en-US" dirty="0">
              <a:latin typeface="Times New Roman" panose="02020503050405090304"/>
            </a:endParaRPr>
          </a:p>
          <a:p>
            <a:endParaRPr lang="en-GB" sz="2400" b="0" dirty="0">
              <a:latin typeface="Times New Roman" panose="02020503050405090304"/>
              <a:ea typeface="Calibri"/>
              <a:cs typeface="Calibri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69452"/>
            <a:ext cx="8520600" cy="4922381"/>
          </a:xfrm>
        </p:spPr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GB" sz="1800" dirty="0">
                <a:latin typeface="Times New Roman" panose="02020503050405090304"/>
                <a:cs typeface="Arial" panose="020B0604020202090204"/>
              </a:rPr>
              <a:t>•</a:t>
            </a:r>
            <a:r>
              <a:rPr lang="en-GB" sz="1800" dirty="0">
                <a:latin typeface="Times New Roman" panose="02020503050405090304"/>
                <a:ea typeface="Calibri"/>
                <a:cs typeface="Arial" panose="020B0604020202090204"/>
              </a:rPr>
              <a:t> </a:t>
            </a:r>
            <a:r>
              <a:rPr lang="en-GB" sz="1800" dirty="0">
                <a:latin typeface="Times New Roman" panose="02020503050405090304"/>
                <a:ea typeface="Calibri"/>
                <a:cs typeface="Calibri"/>
              </a:rPr>
              <a:t>Regularised linear baseline (L2) — controls overfitting and variance.</a:t>
            </a:r>
            <a:endParaRPr lang="en-US" sz="1800">
              <a:latin typeface="Times New Roman" panose="02020503050405090304"/>
            </a:endParaRPr>
          </a:p>
          <a:p>
            <a:pPr>
              <a:lnSpc>
                <a:spcPct val="150000"/>
              </a:lnSpc>
              <a:buNone/>
            </a:pPr>
            <a:r>
              <a:rPr lang="en-GB" sz="1800" dirty="0">
                <a:latin typeface="Times New Roman" panose="02020503050405090304"/>
                <a:ea typeface="Calibri"/>
                <a:cs typeface="Calibri"/>
              </a:rPr>
              <a:t>• Stable under multicollinearity common in traffic features.</a:t>
            </a:r>
            <a:endParaRPr lang="en-US" sz="1800">
              <a:latin typeface="Times New Roman" panose="02020503050405090304"/>
            </a:endParaRPr>
          </a:p>
          <a:p>
            <a:pPr>
              <a:lnSpc>
                <a:spcPct val="150000"/>
              </a:lnSpc>
              <a:buNone/>
            </a:pPr>
            <a:r>
              <a:rPr lang="en-GB" sz="1800" dirty="0">
                <a:latin typeface="Times New Roman" panose="02020503050405090304"/>
                <a:cs typeface="Arial" panose="020B0604020202090204"/>
              </a:rPr>
              <a:t>•</a:t>
            </a:r>
            <a:r>
              <a:rPr lang="en-GB" sz="1800" dirty="0">
                <a:latin typeface="Times New Roman" panose="02020503050405090304"/>
                <a:ea typeface="Calibri"/>
                <a:cs typeface="Arial" panose="020B0604020202090204"/>
              </a:rPr>
              <a:t> </a:t>
            </a:r>
            <a:r>
              <a:rPr lang="en-GB" sz="1800" dirty="0">
                <a:latin typeface="Times New Roman" panose="02020503050405090304"/>
                <a:ea typeface="Calibri"/>
                <a:cs typeface="Calibri"/>
              </a:rPr>
              <a:t>Interpretable coefficients for directional policy insights.</a:t>
            </a:r>
            <a:endParaRPr lang="en-GB" sz="1800">
              <a:latin typeface="Times New Roman" panose="02020503050405090304"/>
            </a:endParaRPr>
          </a:p>
          <a:p>
            <a:pPr>
              <a:lnSpc>
                <a:spcPct val="150000"/>
              </a:lnSpc>
              <a:buNone/>
            </a:pPr>
            <a:r>
              <a:rPr lang="en-GB" sz="1800" dirty="0">
                <a:latin typeface="Times New Roman" panose="02020503050405090304"/>
                <a:cs typeface="Arial" panose="020B0604020202090204"/>
              </a:rPr>
              <a:t>•</a:t>
            </a:r>
            <a:r>
              <a:rPr lang="en-GB" sz="1800" dirty="0">
                <a:latin typeface="Times New Roman" panose="02020503050405090304"/>
                <a:ea typeface="Calibri"/>
                <a:cs typeface="Arial" panose="020B0604020202090204"/>
              </a:rPr>
              <a:t> </a:t>
            </a:r>
            <a:r>
              <a:rPr lang="en-GB" sz="1800" dirty="0">
                <a:latin typeface="Times New Roman" panose="02020503050405090304"/>
                <a:ea typeface="Calibri"/>
                <a:cs typeface="Calibri"/>
              </a:rPr>
              <a:t>Useful sanity check and benchmark for nonlinear gains.</a:t>
            </a:r>
            <a:endParaRPr lang="en-GB" sz="1800">
              <a:latin typeface="Times New Roman" panose="02020503050405090304"/>
            </a:endParaRPr>
          </a:p>
          <a:p>
            <a:pPr>
              <a:lnSpc>
                <a:spcPct val="150000"/>
              </a:lnSpc>
              <a:buNone/>
            </a:pPr>
            <a:r>
              <a:rPr lang="en-GB" sz="1800" dirty="0">
                <a:latin typeface="Times New Roman" panose="02020503050405090304"/>
                <a:cs typeface="Arial" panose="020B0604020202090204"/>
              </a:rPr>
              <a:t>•</a:t>
            </a:r>
            <a:r>
              <a:rPr lang="en-GB" sz="1800" dirty="0">
                <a:latin typeface="Times New Roman" panose="02020503050405090304"/>
                <a:ea typeface="Calibri"/>
                <a:cs typeface="Arial" panose="020B0604020202090204"/>
              </a:rPr>
              <a:t> Not </a:t>
            </a:r>
            <a:r>
              <a:rPr lang="en-GB" sz="1800" dirty="0">
                <a:latin typeface="Times New Roman" panose="02020503050405090304"/>
                <a:ea typeface="Calibri"/>
                <a:cs typeface="Calibri"/>
              </a:rPr>
              <a:t>final choice: cannot capture complex nonlinear interactions like Random Forest.</a:t>
            </a:r>
            <a:endParaRPr lang="en-GB" dirty="0">
              <a:latin typeface="Times New Roman" panose="02020503050405090304"/>
            </a:endParaRPr>
          </a:p>
          <a:p>
            <a:pPr algn="just">
              <a:lnSpc>
                <a:spcPct val="150000"/>
              </a:lnSpc>
              <a:buNone/>
            </a:pPr>
            <a:endParaRPr lang="en-GB" sz="1800" dirty="0">
              <a:latin typeface="Times New Roman" panose="02020503050405090304"/>
              <a:ea typeface="Calibri"/>
              <a:cs typeface="Calibri"/>
            </a:endParaRPr>
          </a:p>
          <a:p>
            <a:pPr marL="88900" indent="0">
              <a:lnSpc>
                <a:spcPct val="150000"/>
              </a:lnSpc>
              <a:buNone/>
            </a:pPr>
            <a:endParaRPr lang="en-GB" sz="1800" dirty="0">
              <a:latin typeface="Times New Roman" panose="02020503050405090304"/>
            </a:endParaRPr>
          </a:p>
          <a:p>
            <a:endParaRPr lang="en-GB" dirty="0"/>
          </a:p>
          <a:p>
            <a:pPr marL="88900" indent="0">
              <a:buNone/>
            </a:pPr>
            <a:endParaRPr lang="en-GB" dirty="0"/>
          </a:p>
          <a:p>
            <a:endParaRPr lang="en-GB" dirty="0"/>
          </a:p>
          <a:p>
            <a:pPr marL="88900" indent="0">
              <a:buNone/>
            </a:pPr>
            <a:endParaRPr lang="en-GB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" name="TextBox 3"/>
          <p:cNvSpPr txBox="1"/>
          <p:nvPr/>
        </p:nvSpPr>
        <p:spPr>
          <a:xfrm>
            <a:off x="8303036" y="6017036"/>
            <a:ext cx="47378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GB" dirty="0"/>
              <a:t>21</a:t>
            </a:r>
            <a:endParaRPr lang="en-GB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503050405090304"/>
                <a:ea typeface="Calibri"/>
                <a:cs typeface="Calibri"/>
              </a:rPr>
              <a:t>Conclusions &amp; Next Steps</a:t>
            </a:r>
            <a:endParaRPr lang="en-US" dirty="0">
              <a:latin typeface="Times New Roman" panose="02020503050405090304"/>
              <a:ea typeface="Calibri"/>
              <a:cs typeface="Calibri"/>
            </a:endParaRPr>
          </a:p>
          <a:p>
            <a:endParaRPr lang="en-GB" sz="2400" b="0" dirty="0">
              <a:ea typeface="Calibri"/>
              <a:cs typeface="Calibri"/>
            </a:endParaRPr>
          </a:p>
          <a:p>
            <a:endParaRPr lang="en-GB" sz="2400" b="0" dirty="0">
              <a:latin typeface="Times New Roman" panose="02020503050405090304"/>
              <a:ea typeface="Calibri"/>
              <a:cs typeface="Calibri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339018"/>
            <a:ext cx="8482920" cy="4696294"/>
          </a:xfrm>
        </p:spPr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GB" sz="1800">
                <a:latin typeface="Times New Roman" panose="02020503050405090304"/>
                <a:cs typeface="Arial" panose="020B0604020202090204"/>
              </a:rPr>
              <a:t>•</a:t>
            </a:r>
            <a:r>
              <a:rPr lang="en-GB" sz="1800" dirty="0">
                <a:latin typeface="Times New Roman" panose="02020503050405090304"/>
                <a:ea typeface="Calibri"/>
                <a:cs typeface="Arial" panose="020B0604020202090204"/>
              </a:rPr>
              <a:t> </a:t>
            </a:r>
            <a:r>
              <a:rPr lang="en-GB" sz="1800">
                <a:latin typeface="Times New Roman" panose="02020503050405090304"/>
                <a:ea typeface="Calibri"/>
                <a:cs typeface="Calibri"/>
              </a:rPr>
              <a:t>Develop a comprehensive framework for traffic prediction that integrates:</a:t>
            </a:r>
            <a:endParaRPr lang="en-US" sz="1800">
              <a:latin typeface="Times New Roman" panose="02020503050405090304"/>
            </a:endParaRPr>
          </a:p>
          <a:p>
            <a:pPr>
              <a:lnSpc>
                <a:spcPct val="150000"/>
              </a:lnSpc>
              <a:buNone/>
            </a:pPr>
            <a:r>
              <a:rPr lang="en-GB" sz="1800">
                <a:latin typeface="Times New Roman" panose="02020503050405090304"/>
                <a:ea typeface="Calibri"/>
                <a:cs typeface="Calibri"/>
              </a:rPr>
              <a:t>  - Model selection pipeline (Random Forest as primary, Ridge as baseline)</a:t>
            </a:r>
            <a:endParaRPr lang="en-GB" sz="1800">
              <a:latin typeface="Times New Roman" panose="02020503050405090304"/>
            </a:endParaRPr>
          </a:p>
          <a:p>
            <a:pPr>
              <a:lnSpc>
                <a:spcPct val="150000"/>
              </a:lnSpc>
              <a:buNone/>
            </a:pPr>
            <a:r>
              <a:rPr lang="en-GB" sz="1800">
                <a:latin typeface="Times New Roman" panose="02020503050405090304"/>
                <a:ea typeface="Calibri"/>
                <a:cs typeface="Calibri"/>
              </a:rPr>
              <a:t>  - Real-time data ingestion and preprocessing</a:t>
            </a:r>
            <a:endParaRPr lang="en-GB" sz="1800">
              <a:latin typeface="Times New Roman" panose="02020503050405090304"/>
            </a:endParaRPr>
          </a:p>
          <a:p>
            <a:pPr>
              <a:lnSpc>
                <a:spcPct val="150000"/>
              </a:lnSpc>
              <a:buNone/>
            </a:pPr>
            <a:r>
              <a:rPr lang="en-GB" sz="1800">
                <a:latin typeface="Times New Roman" panose="02020503050405090304"/>
                <a:ea typeface="Calibri"/>
                <a:cs typeface="Calibri"/>
              </a:rPr>
              <a:t>  - Multi-horizon prediction (short-term daily + long-term weekly forecasts)</a:t>
            </a:r>
            <a:endParaRPr lang="en-GB" sz="1800">
              <a:latin typeface="Times New Roman" panose="02020503050405090304"/>
            </a:endParaRPr>
          </a:p>
          <a:p>
            <a:pPr>
              <a:lnSpc>
                <a:spcPct val="150000"/>
              </a:lnSpc>
              <a:buNone/>
            </a:pPr>
            <a:r>
              <a:rPr lang="en-GB" sz="1800">
                <a:latin typeface="Times New Roman" panose="02020503050405090304"/>
                <a:ea typeface="Calibri"/>
                <a:cs typeface="Calibri"/>
              </a:rPr>
              <a:t>  - Performance monitoring using Utility Score metric</a:t>
            </a:r>
            <a:endParaRPr lang="en-GB" sz="1800">
              <a:latin typeface="Times New Roman" panose="02020503050405090304"/>
            </a:endParaRPr>
          </a:p>
          <a:p>
            <a:pPr>
              <a:lnSpc>
                <a:spcPct val="150000"/>
              </a:lnSpc>
              <a:buNone/>
            </a:pPr>
            <a:r>
              <a:rPr lang="en-GB" sz="1800" dirty="0">
                <a:latin typeface="Times New Roman" panose="02020503050405090304"/>
                <a:ea typeface="Calibri"/>
                <a:cs typeface="Calibri"/>
              </a:rPr>
              <a:t>  - Automated retraining and model versioning</a:t>
            </a:r>
            <a:endParaRPr lang="en-US" sz="1800" dirty="0">
              <a:latin typeface="Times New Roman" panose="02020503050405090304"/>
            </a:endParaRPr>
          </a:p>
          <a:p>
            <a:pPr>
              <a:lnSpc>
                <a:spcPct val="150000"/>
              </a:lnSpc>
              <a:buNone/>
            </a:pPr>
            <a:r>
              <a:rPr lang="en-GB" sz="1800" dirty="0">
                <a:latin typeface="Times New Roman" panose="02020503050405090304"/>
                <a:cs typeface="Arial" panose="020B0604020202090204"/>
              </a:rPr>
              <a:t>•</a:t>
            </a:r>
            <a:r>
              <a:rPr lang="en-GB" sz="1800" dirty="0">
                <a:latin typeface="Times New Roman" panose="02020503050405090304"/>
                <a:ea typeface="Calibri"/>
                <a:cs typeface="Arial" panose="020B0604020202090204"/>
              </a:rPr>
              <a:t> </a:t>
            </a:r>
            <a:r>
              <a:rPr lang="en-GB" sz="1800" dirty="0">
                <a:latin typeface="Times New Roman" panose="02020503050405090304"/>
                <a:ea typeface="Calibri"/>
                <a:cs typeface="Calibri"/>
              </a:rPr>
              <a:t>Integrate real-time incident feeds for dynamic updates</a:t>
            </a:r>
            <a:endParaRPr lang="en-GB" sz="1800">
              <a:latin typeface="Times New Roman" panose="02020503050405090304"/>
            </a:endParaRPr>
          </a:p>
          <a:p>
            <a:pPr>
              <a:lnSpc>
                <a:spcPct val="150000"/>
              </a:lnSpc>
              <a:buNone/>
            </a:pPr>
            <a:r>
              <a:rPr lang="en-GB" sz="1800" dirty="0">
                <a:latin typeface="Times New Roman" panose="02020503050405090304"/>
                <a:cs typeface="Arial" panose="020B0604020202090204"/>
              </a:rPr>
              <a:t>•</a:t>
            </a:r>
            <a:r>
              <a:rPr lang="en-GB" sz="1800" dirty="0">
                <a:latin typeface="Times New Roman" panose="02020503050405090304"/>
                <a:ea typeface="Calibri"/>
                <a:cs typeface="Arial" panose="020B0604020202090204"/>
              </a:rPr>
              <a:t> </a:t>
            </a:r>
            <a:r>
              <a:rPr lang="en-GB" sz="1800" dirty="0">
                <a:latin typeface="Times New Roman" panose="02020503050405090304"/>
                <a:ea typeface="Calibri"/>
                <a:cs typeface="Calibri"/>
              </a:rPr>
              <a:t>Test framework on other Indian metros (Delhi, Mumbai) for generalizability</a:t>
            </a:r>
            <a:endParaRPr lang="en-GB" dirty="0">
              <a:latin typeface="Times New Roman" panose="02020503050405090304"/>
            </a:endParaRPr>
          </a:p>
          <a:p>
            <a:pPr>
              <a:buNone/>
            </a:pPr>
            <a:endParaRPr lang="en-GB" sz="1800" dirty="0"/>
          </a:p>
          <a:p>
            <a:pPr>
              <a:lnSpc>
                <a:spcPct val="150000"/>
              </a:lnSpc>
              <a:buNone/>
            </a:pPr>
            <a:endParaRPr lang="en-GB" sz="1800" dirty="0">
              <a:latin typeface="Times New Roman" panose="02020503050405090304"/>
              <a:ea typeface="Calibri"/>
              <a:cs typeface="Calibri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" name="TextBox 3"/>
          <p:cNvSpPr txBox="1"/>
          <p:nvPr/>
        </p:nvSpPr>
        <p:spPr>
          <a:xfrm>
            <a:off x="8303036" y="6017036"/>
            <a:ext cx="47378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GB" dirty="0"/>
              <a:t>22</a:t>
            </a:r>
            <a:endParaRPr lang="en-GB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8900" indent="0" algn="ctr">
              <a:buNone/>
            </a:pPr>
            <a:endParaRPr lang="en-US" sz="8800"/>
          </a:p>
          <a:p>
            <a:pPr marL="88900" indent="0" algn="ctr">
              <a:buNone/>
            </a:pPr>
            <a:r>
              <a:rPr lang="en-US" sz="8800">
                <a:latin typeface="Times New Roman" panose="02020503050405090304" pitchFamily="18" charset="0"/>
                <a:cs typeface="Times New Roman" panose="02020503050405090304" pitchFamily="18" charset="0"/>
              </a:rPr>
              <a:t>Thank You</a:t>
            </a:r>
            <a:endParaRPr lang="en-IN" sz="88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8900" indent="0" algn="ctr">
              <a:buNone/>
            </a:pPr>
            <a:endParaRPr lang="en-IN" sz="8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5638</Words>
  <Application>WPS Presentation</Application>
  <PresentationFormat>On-screen Show (4:3)</PresentationFormat>
  <Paragraphs>285</Paragraphs>
  <Slides>23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2" baseType="lpstr">
      <vt:lpstr>Arial</vt:lpstr>
      <vt:lpstr>SimSun</vt:lpstr>
      <vt:lpstr>Wingdings</vt:lpstr>
      <vt:lpstr>Arial</vt:lpstr>
      <vt:lpstr>Archivo Narrow</vt:lpstr>
      <vt:lpstr>Thonburi</vt:lpstr>
      <vt:lpstr>Georgia</vt:lpstr>
      <vt:lpstr>Times New Roman</vt:lpstr>
      <vt:lpstr>Archivo Narrow</vt:lpstr>
      <vt:lpstr>苹方-简</vt:lpstr>
      <vt:lpstr>Calibri</vt:lpstr>
      <vt:lpstr>Helvetica Neue</vt:lpstr>
      <vt:lpstr>Microsoft YaHei</vt:lpstr>
      <vt:lpstr>汉仪旗黑</vt:lpstr>
      <vt:lpstr>Arial Unicode MS</vt:lpstr>
      <vt:lpstr>宋体-简</vt:lpstr>
      <vt:lpstr>Times New Roman</vt:lpstr>
      <vt:lpstr>Aptos</vt:lpstr>
      <vt:lpstr>Simple Light</vt:lpstr>
      <vt:lpstr>      RAC 4: Comparative Analysis of Traffic Prediction Models  Deepa C PhD Research  Scholar (Data Science) Register No : 2390019 CHRIST Deemed to be University Bangalore 20/11/2025  Under Guidance of  Dr Monisha Singh Department of Computer Science CHRIST Deemed to be University Bangalore </vt:lpstr>
      <vt:lpstr>Suggestions </vt:lpstr>
      <vt:lpstr>Agenda</vt:lpstr>
      <vt:lpstr>Dataset &amp; Features</vt:lpstr>
      <vt:lpstr>Temporal Context Features</vt:lpstr>
      <vt:lpstr>Modelling Strategy</vt:lpstr>
      <vt:lpstr>Evaluation Metrics</vt:lpstr>
      <vt:lpstr>Model Comparison</vt:lpstr>
      <vt:lpstr>Model Family Performance Snapshot</vt:lpstr>
      <vt:lpstr>Accuracy (R²) by Model &amp; Architecture</vt:lpstr>
      <vt:lpstr>Training Time by Model &amp; Architecture</vt:lpstr>
      <vt:lpstr>Sensitivity to Architectural Change</vt:lpstr>
      <vt:lpstr>Utility Score by Model &amp; Architecture</vt:lpstr>
      <vt:lpstr>Temporal Pattern Insights</vt:lpstr>
      <vt:lpstr>Daily Traffic Volume Trend</vt:lpstr>
      <vt:lpstr>Weekly Traffic Volume Trend</vt:lpstr>
      <vt:lpstr>Monthly Traffic Volume Trend</vt:lpstr>
      <vt:lpstr>Short Term vs Long Term Prediction</vt:lpstr>
      <vt:lpstr>• Lasso/ElasticNet confirm which features drive linear behaviour; improvements from RF highlight nonlinear traffic dynamics.</vt:lpstr>
      <vt:lpstr>Why Random Forest Is Best For This Research</vt:lpstr>
      <vt:lpstr>Role of Ridge Regression (Why It Matters)</vt:lpstr>
      <vt:lpstr>Conclusions &amp; Next Steps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BEAULAH SOUNDARABAI P COMPUTER SCIENCE</dc:creator>
  <cp:lastModifiedBy>deepac</cp:lastModifiedBy>
  <cp:revision>873</cp:revision>
  <dcterms:created xsi:type="dcterms:W3CDTF">2025-11-26T04:39:24Z</dcterms:created>
  <dcterms:modified xsi:type="dcterms:W3CDTF">2025-11-26T04:39:24Z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81D551A437CCA989FA822669678E1DD9_42</vt:lpwstr>
  </property>
  <property fmtid="{D5CDD505-2E9C-101B-9397-08002B2CF9AE}" pid="3" name="KSOProductBuildVer">
    <vt:lpwstr>1033-12.1.23152.23152</vt:lpwstr>
  </property>
</Properties>
</file>